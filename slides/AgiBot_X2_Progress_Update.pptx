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pn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73152"/>
          </a:xfrm>
          <a:prstGeom prst="rect">
            <a:avLst/>
          </a:prstGeom>
          <a:solidFill>
            <a:srgbClr val="12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AgiBot X2 — Progress Update</a:t>
            </a:r>
          </a:p>
          <a:p>
            <a:r>
              <a:rPr sz="2000" b="0" i="0">
                <a:solidFill>
                  <a:srgbClr val="9FC7E8"/>
                </a:solidFill>
                <a:latin typeface="Segoe UI"/>
              </a:rPr>
              <a:t>Box-Pickup Motion-Retargeting Policy  |  On-Robot VLM Perception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0">
                <a:solidFill>
                  <a:srgbClr val="C9D6E3"/>
                </a:solidFill>
                <a:latin typeface="Segoe UI"/>
              </a:rPr>
              <a:t>Whole-body manipulation via human MoCap retargeting + vision-language perception benchmark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9FC7E8"/>
                </a:solidFill>
                <a:latin typeface="Segoe UI"/>
              </a:rPr>
              <a:t>NEW POLICY</a:t>
            </a:r>
          </a:p>
          <a:p>
            <a:r>
              <a:rPr sz="2600" b="1" i="0">
                <a:solidFill>
                  <a:srgbClr val="FFFFFF"/>
                </a:solidFill>
                <a:latin typeface="Segoe UI"/>
              </a:rPr>
              <a:t>Box-Pickup Policy — Objective &amp;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0" i="0">
                <a:solidFill>
                  <a:srgbClr val="0B2A4A"/>
                </a:solidFill>
                <a:latin typeface="Segoe UI"/>
              </a:rPr>
              <a:t>•  Task: whole-body box pickup — walk up, two-hand grasp, lift, carry, and set down a large box.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0B2A4A"/>
                </a:solidFill>
                <a:latin typeface="Segoe UI"/>
              </a:rPr>
              <a:t>•  Reference source: human motion-capture clip (OmniRetarget dataset, sub3_largebox_003, SMPL-H 52-joint model).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0B2A4A"/>
                </a:solidFill>
                <a:latin typeface="Segoe UI"/>
              </a:rPr>
              <a:t>•  Embodiment switch: motion authored on a human SMPL-H skeleton is retargeted onto the AgiBot X2 — 31 DOF (6+6 legs, 3 waist, 7+7 arms, 2 head), 1.4 m tall, rigid half-sphere palms (no fingers).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0B2A4A"/>
                </a:solidFill>
                <a:latin typeface="Segoe UI"/>
              </a:rPr>
              <a:t>•  Status: policy is currently in training; deployment on the physical X2 is planned once this run completes.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1F6FB2"/>
                </a:solidFill>
                <a:latin typeface="Segoe UI"/>
              </a:rPr>
              <a:t>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617720"/>
            <a:ext cx="1942185" cy="105156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Human SMPL-H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MoCap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45470" y="4988052"/>
            <a:ext cx="291876" cy="310896"/>
          </a:xfrm>
          <a:prstGeom prst="rightArrow">
            <a:avLst/>
          </a:prstGeom>
          <a:solidFill>
            <a:srgbClr val="12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83433" y="4617720"/>
            <a:ext cx="1942185" cy="105156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Interaction-Mesh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Retargeting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71703" y="4988052"/>
            <a:ext cx="291876" cy="310896"/>
          </a:xfrm>
          <a:prstGeom prst="rightArrow">
            <a:avLst/>
          </a:prstGeom>
          <a:solidFill>
            <a:srgbClr val="12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09666" y="4617720"/>
            <a:ext cx="1942185" cy="105156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X2 31-DOF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Reference Traj.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97936" y="4988052"/>
            <a:ext cx="291876" cy="310896"/>
          </a:xfrm>
          <a:prstGeom prst="rightArrow">
            <a:avLst/>
          </a:prstGeom>
          <a:solidFill>
            <a:srgbClr val="12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35899" y="4617720"/>
            <a:ext cx="1942185" cy="105156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RL Tracking Policy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(Isaac Sim / PPO)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24169" y="4988052"/>
            <a:ext cx="291876" cy="310896"/>
          </a:xfrm>
          <a:prstGeom prst="rightArrow">
            <a:avLst/>
          </a:prstGeom>
          <a:solidFill>
            <a:srgbClr val="12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762132" y="4617720"/>
            <a:ext cx="1942185" cy="105156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Deploy on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physical X2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1">
                <a:solidFill>
                  <a:srgbClr val="444A54"/>
                </a:solidFill>
                <a:latin typeface="Segoe UI"/>
              </a:rPr>
              <a:t>Blind whole-body policy (no cameras); object state used only by the critic during training.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9FC7E8"/>
                </a:solidFill>
                <a:latin typeface="Segoe UI"/>
              </a:rPr>
              <a:t>NEW POLICY</a:t>
            </a:r>
          </a:p>
          <a:p>
            <a:r>
              <a:rPr sz="2600" b="1" i="0">
                <a:solidFill>
                  <a:srgbClr val="FFFFFF"/>
                </a:solidFill>
                <a:latin typeface="Segoe UI"/>
              </a:rPr>
              <a:t>Retargeting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4008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 i="0">
                <a:solidFill>
                  <a:srgbClr val="0B2A4A"/>
                </a:solidFill>
                <a:latin typeface="Segoe UI"/>
              </a:rPr>
              <a:t>•  Method: interaction-mesh retargeting solved as a per-frame convex QP with SQP linearization (CVXPY + Clarabel).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0B2A4A"/>
                </a:solidFill>
                <a:latin typeface="Segoe UI"/>
              </a:rPr>
              <a:t>•  14-landmark SMPL-H → X2 correspondence (pelvis, hips, knees, ankles, toes, shoulders, elbows, wrists → hand-contact links).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0B2A4A"/>
                </a:solidFill>
                <a:latin typeface="Segoe UI"/>
              </a:rPr>
              <a:t>•  Synthetic hand-contact link at (0.02, 0, -0.13) m from each wrist so the human wrist maps to the grasp surface.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0B2A4A"/>
                </a:solidFill>
                <a:latin typeface="Segoe UI"/>
              </a:rPr>
              <a:t>•  Constraints: Laplacian (interaction-mesh) preservation; non-penetration (floor + box); foot-stick / foot-lock; joint limits; trust region; self-collision.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617720"/>
            <a:ext cx="6400800" cy="17373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70916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F6FB2"/>
                </a:solidFill>
                <a:latin typeface="Segoe UI"/>
              </a:rPr>
              <a:t>Per-frame QP objective</a:t>
            </a:r>
          </a:p>
        </p:txBody>
      </p:sp>
      <p:pic>
        <p:nvPicPr>
          <p:cNvPr id="8" name="Picture 7" descr="eq_re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212080"/>
            <a:ext cx="5760720" cy="4641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9436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 i="1">
                <a:solidFill>
                  <a:srgbClr val="444A54"/>
                </a:solidFill>
                <a:latin typeface="Segoe UI"/>
              </a:rPr>
              <a:t>L(·): interaction-mesh Laplacian · δ: trust-region step · q±: joint limits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1371600"/>
            <a:ext cx="4617720" cy="4983480"/>
          </a:xfrm>
          <a:prstGeom prst="roundRect">
            <a:avLst/>
          </a:prstGeom>
          <a:solidFill>
            <a:srgbClr val="EDF1F6"/>
          </a:solidFill>
          <a:ln w="15875">
            <a:solidFill>
              <a:srgbClr val="B6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 i="0">
                <a:solidFill>
                  <a:srgbClr val="1F6FB2"/>
                </a:solidFill>
                <a:latin typeface="Segoe UI"/>
              </a:rPr>
              <a:t>Figure placeholder</a:t>
            </a:r>
          </a:p>
          <a:p>
            <a:pPr algn="ctr"/>
            <a:r>
              <a:rPr sz="1200" b="0" i="0">
                <a:solidFill>
                  <a:srgbClr val="444A54"/>
                </a:solidFill>
                <a:latin typeface="Segoe UI"/>
              </a:rPr>
              <a:t>Add interaction-mesh / retargeting figure from the paper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9FC7E8"/>
                </a:solidFill>
                <a:latin typeface="Segoe UI"/>
              </a:rPr>
              <a:t>NEW POLICY</a:t>
            </a:r>
          </a:p>
          <a:p>
            <a:r>
              <a:rPr sz="2600" b="1" i="0">
                <a:solidFill>
                  <a:srgbClr val="FFFFFF"/>
                </a:solidFill>
                <a:latin typeface="Segoe UI"/>
              </a:rPr>
              <a:t>Reference Motion:  Human MoCap  →  Retargeted X2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0B2A4A"/>
                </a:solidFill>
                <a:latin typeface="Segoe UI"/>
              </a:rPr>
              <a:t>Source — human SMPL-H MoCap</a:t>
            </a:r>
          </a:p>
        </p:txBody>
      </p:sp>
      <p:pic>
        <p:nvPicPr>
          <p:cNvPr id="6" name="omomo_human_mocap_sub3_largebox_00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463040"/>
            <a:ext cx="5394960" cy="30730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14300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0B2A4A"/>
                </a:solidFill>
                <a:latin typeface="Segoe UI"/>
              </a:rPr>
              <a:t>Retargeted — AgiBot X2 (31-DOF)</a:t>
            </a:r>
          </a:p>
        </p:txBody>
      </p:sp>
      <p:pic>
        <p:nvPicPr>
          <p:cNvPr id="8" name="reference_motion_FIXED_sub3_largebox_003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309360" y="1463040"/>
            <a:ext cx="5394960" cy="30346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1">
                <a:solidFill>
                  <a:srgbClr val="444A54"/>
                </a:solidFill>
                <a:latin typeface="Segoe UI"/>
              </a:rPr>
              <a:t>Same clip before and after the interaction-mesh IK pipeline; contact states corrected post-retargeting. (Click to play.)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9FC7E8"/>
                </a:solidFill>
                <a:latin typeface="Segoe UI"/>
              </a:rPr>
              <a:t>NEW POLICY</a:t>
            </a:r>
          </a:p>
          <a:p>
            <a:r>
              <a:rPr sz="2600" b="1" i="0">
                <a:solidFill>
                  <a:srgbClr val="FFFFFF"/>
                </a:solidFill>
                <a:latin typeface="Segoe UI"/>
              </a:rPr>
              <a:t>Policy Training — RL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51760" cy="10515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600" b="1" i="0">
                <a:solidFill>
                  <a:srgbClr val="0B2A4A"/>
                </a:solidFill>
                <a:latin typeface="Segoe UI"/>
              </a:rPr>
              <a:t>4096</a:t>
            </a:r>
          </a:p>
          <a:p>
            <a:pPr algn="ctr"/>
            <a:r>
              <a:rPr sz="1100" b="0" i="0">
                <a:solidFill>
                  <a:srgbClr val="444A54"/>
                </a:solidFill>
                <a:latin typeface="Segoe UI"/>
              </a:rPr>
              <a:t>parallel envs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73152"/>
          </a:xfrm>
          <a:prstGeom prst="rect">
            <a:avLst/>
          </a:prstGeom>
          <a:solidFill>
            <a:srgbClr val="12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19272" y="1371600"/>
            <a:ext cx="2651760" cy="10515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600" b="1" i="0">
                <a:solidFill>
                  <a:srgbClr val="0B2A4A"/>
                </a:solidFill>
                <a:latin typeface="Segoe UI"/>
              </a:rPr>
              <a:t>50 Hz</a:t>
            </a:r>
          </a:p>
          <a:p>
            <a:pPr algn="ctr"/>
            <a:r>
              <a:rPr sz="1100" b="0" i="0">
                <a:solidFill>
                  <a:srgbClr val="444A54"/>
                </a:solidFill>
                <a:latin typeface="Segoe UI"/>
              </a:rPr>
              <a:t>control (200 Hz sim)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9272" y="1371600"/>
            <a:ext cx="2651760" cy="73152"/>
          </a:xfrm>
          <a:prstGeom prst="rect">
            <a:avLst/>
          </a:prstGeom>
          <a:solidFill>
            <a:srgbClr val="12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81344" y="1371600"/>
            <a:ext cx="2651760" cy="10515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600" b="1" i="0">
                <a:solidFill>
                  <a:srgbClr val="0B2A4A"/>
                </a:solidFill>
                <a:latin typeface="Segoe UI"/>
              </a:rPr>
              <a:t>31</a:t>
            </a:r>
          </a:p>
          <a:p>
            <a:pPr algn="ctr"/>
            <a:r>
              <a:rPr sz="1100" b="0" i="0">
                <a:solidFill>
                  <a:srgbClr val="444A54"/>
                </a:solidFill>
                <a:latin typeface="Segoe UI"/>
              </a:rPr>
              <a:t>actuated DOF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1371600"/>
            <a:ext cx="2651760" cy="73152"/>
          </a:xfrm>
          <a:prstGeom prst="rect">
            <a:avLst/>
          </a:prstGeom>
          <a:solidFill>
            <a:srgbClr val="12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43416" y="1371600"/>
            <a:ext cx="2651760" cy="10515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600" b="1" i="0">
                <a:solidFill>
                  <a:srgbClr val="0B2A4A"/>
                </a:solidFill>
                <a:latin typeface="Segoe UI"/>
              </a:rPr>
              <a:t>PPO</a:t>
            </a:r>
          </a:p>
          <a:p>
            <a:pPr algn="ctr"/>
            <a:r>
              <a:rPr sz="1100" b="0" i="0">
                <a:solidFill>
                  <a:srgbClr val="444A54"/>
                </a:solidFill>
                <a:latin typeface="Segoe UI"/>
              </a:rPr>
              <a:t>λ=0.95 · γ=0.99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43416" y="1371600"/>
            <a:ext cx="2651760" cy="73152"/>
          </a:xfrm>
          <a:prstGeom prst="rect">
            <a:avLst/>
          </a:prstGeom>
          <a:solidFill>
            <a:srgbClr val="12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97480"/>
            <a:ext cx="6400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0B2A4A"/>
                </a:solidFill>
                <a:latin typeface="Segoe UI"/>
              </a:rPr>
              <a:t>•  Framework: IsaacLab (Isaac Sim) + holosoma.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0B2A4A"/>
                </a:solidFill>
                <a:latin typeface="Segoe UI"/>
              </a:rPr>
              <a:t>•  Actor: blind MLP 512-256-128 (ELU) — prev action, base ang-vel, dof pos/vel, motion phase, ref orientation.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0B2A4A"/>
                </a:solidFill>
                <a:latin typeface="Segoe UI"/>
              </a:rPr>
              <a:t>•  Critic: privileged obs adds base lin-vel + object &amp; body state.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0B2A4A"/>
                </a:solidFill>
                <a:latin typeface="Segoe UI"/>
              </a:rPr>
              <a:t>•  Key reward: two-hand-to-box proximity as a product term — both palms must reach the box simultaneously.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0B2A4A"/>
                </a:solidFill>
                <a:latin typeface="Segoe UI"/>
              </a:rPr>
              <a:t>•  Status: currently training; deploy on physical X2 after the run.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2697480"/>
            <a:ext cx="4617720" cy="68580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Actor  (blind)  →  512-256-128  →  31 DOF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3520440"/>
            <a:ext cx="4617720" cy="68580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Critic  (privileged: + object &amp; body state)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4434840"/>
            <a:ext cx="4617720" cy="1920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452628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F6FB2"/>
                </a:solidFill>
                <a:latin typeface="Segoe UI"/>
              </a:rPr>
              <a:t>Two-hand grasp reward</a:t>
            </a:r>
          </a:p>
        </p:txBody>
      </p:sp>
      <p:pic>
        <p:nvPicPr>
          <p:cNvPr id="18" name="Picture 17" descr="eq_re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5029200"/>
            <a:ext cx="4206240" cy="5930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269480" y="589788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1">
                <a:solidFill>
                  <a:srgbClr val="444A54"/>
                </a:solidFill>
                <a:latin typeface="Segoe UI"/>
              </a:rPr>
              <a:t>Product (not mean) over hands forces bimanual contact.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9FC7E8"/>
                </a:solidFill>
                <a:latin typeface="Segoe UI"/>
              </a:rPr>
              <a:t>PERCEPTION</a:t>
            </a:r>
          </a:p>
          <a:p>
            <a:r>
              <a:rPr sz="2600" b="1" i="0">
                <a:solidFill>
                  <a:srgbClr val="FFFFFF"/>
                </a:solidFill>
                <a:latin typeface="Segoe UI"/>
              </a:rPr>
              <a:t>VLM Perception —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B2A4A"/>
                </a:solidFill>
                <a:latin typeface="Segoe UI"/>
              </a:rPr>
              <a:t>•  Goal: scene understanding from the X2 head RGB camera; frames streamed to a workstation for evaluation.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B2A4A"/>
                </a:solidFill>
                <a:latin typeface="Segoe UI"/>
              </a:rPr>
              <a:t>•  Three VLMs served locally via Ollama: Qwen2.5-VL 7B, Qwen2.5-VL 3B, Moondream (~1.8B).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B2A4A"/>
                </a:solidFill>
                <a:latin typeface="Segoe UI"/>
              </a:rPr>
              <a:t>•  Protocol: 15 s clip @ ~20 fps → 12 evenly-spaced frames; identical prompt, temperature 0.2; one model resident at a time (8 GB VRAM).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114800"/>
            <a:ext cx="11247120" cy="2194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1F6FB2"/>
                </a:solidFill>
                <a:latin typeface="Segoe UI"/>
              </a:rPr>
              <a:t>Prompt (identical for all models)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1">
                <a:solidFill>
                  <a:srgbClr val="0B2A4A"/>
                </a:solidFill>
                <a:latin typeface="Segoe UI"/>
              </a:rPr>
              <a:t>“You are a robot's vision system. List the main objects and people you see and roughly where they are (left/center/right). Then one short summary sentence. Be concise.”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9FC7E8"/>
                </a:solidFill>
                <a:latin typeface="Segoe UI"/>
              </a:rPr>
              <a:t>PERCEPTION</a:t>
            </a:r>
          </a:p>
          <a:p>
            <a:r>
              <a:rPr sz="2600" b="1" i="0">
                <a:solidFill>
                  <a:srgbClr val="FFFFFF"/>
                </a:solidFill>
                <a:latin typeface="Segoe UI"/>
              </a:rPr>
              <a:t>VLM Performance Metrics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1737360"/>
                <a:gridCol w="1554480"/>
                <a:gridCol w="1554480"/>
                <a:gridCol w="164592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T="50800" marB="50800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Params</a:t>
                      </a:r>
                    </a:p>
                  </a:txBody>
                  <a:tcPr marT="50800" marB="50800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Mean lat.</a:t>
                      </a:r>
                    </a:p>
                  </a:txBody>
                  <a:tcPr marT="50800" marB="50800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Median</a:t>
                      </a:r>
                    </a:p>
                  </a:txBody>
                  <a:tcPr marT="50800" marB="50800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Rate</a:t>
                      </a:r>
                    </a:p>
                  </a:txBody>
                  <a:tcPr marT="50800" marB="50800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Gen speed</a:t>
                      </a:r>
                    </a:p>
                  </a:txBody>
                  <a:tcPr marT="50800" marB="50800" anchor="ctr">
                    <a:solidFill>
                      <a:srgbClr val="0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444A54"/>
                          </a:solidFill>
                          <a:latin typeface="Segoe UI"/>
                        </a:rPr>
                        <a:t>Qwen2.5-VL 7B</a:t>
                      </a:r>
                    </a:p>
                  </a:txBody>
                  <a:tcPr marT="50800" marB="50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44A54"/>
                          </a:solidFill>
                          <a:latin typeface="Segoe UI"/>
                        </a:rPr>
                        <a:t>7 B</a:t>
                      </a:r>
                    </a:p>
                  </a:txBody>
                  <a:tcPr marT="50800" marB="50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44A54"/>
                          </a:solidFill>
                          <a:latin typeface="Segoe UI"/>
                        </a:rPr>
                        <a:t>2.87 s</a:t>
                      </a:r>
                    </a:p>
                  </a:txBody>
                  <a:tcPr marT="50800" marB="50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44A54"/>
                          </a:solidFill>
                          <a:latin typeface="Segoe UI"/>
                        </a:rPr>
                        <a:t>2.89 s</a:t>
                      </a:r>
                    </a:p>
                  </a:txBody>
                  <a:tcPr marT="50800" marB="50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44A54"/>
                          </a:solidFill>
                          <a:latin typeface="Segoe UI"/>
                        </a:rPr>
                        <a:t>0.35 Hz</a:t>
                      </a:r>
                    </a:p>
                  </a:txBody>
                  <a:tcPr marT="50800" marB="50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44A54"/>
                          </a:solidFill>
                          <a:latin typeface="Segoe UI"/>
                        </a:rPr>
                        <a:t>51.3 tok/s</a:t>
                      </a:r>
                    </a:p>
                  </a:txBody>
                  <a:tcPr marT="50800" marB="50800" anchor="ctr"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444A54"/>
                          </a:solidFill>
                          <a:latin typeface="Segoe UI"/>
                        </a:rPr>
                        <a:t>Qwen2.5-VL 3B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44A54"/>
                          </a:solidFill>
                          <a:latin typeface="Segoe UI"/>
                        </a:rPr>
                        <a:t>3 B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44A54"/>
                          </a:solidFill>
                          <a:latin typeface="Segoe UI"/>
                        </a:rPr>
                        <a:t>2.45 s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44A54"/>
                          </a:solidFill>
                          <a:latin typeface="Segoe UI"/>
                        </a:rPr>
                        <a:t>2.50 s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44A54"/>
                          </a:solidFill>
                          <a:latin typeface="Segoe UI"/>
                        </a:rPr>
                        <a:t>0.41 Hz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44A54"/>
                          </a:solidFill>
                          <a:latin typeface="Segoe UI"/>
                        </a:rPr>
                        <a:t>107.6 tok/s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444A54"/>
                          </a:solidFill>
                          <a:latin typeface="Segoe UI"/>
                        </a:rPr>
                        <a:t>Moondream</a:t>
                      </a:r>
                    </a:p>
                  </a:txBody>
                  <a:tcPr marT="50800" marB="50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44A54"/>
                          </a:solidFill>
                          <a:latin typeface="Segoe UI"/>
                        </a:rPr>
                        <a:t>~1.8 B</a:t>
                      </a:r>
                    </a:p>
                  </a:txBody>
                  <a:tcPr marT="50800" marB="50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44A54"/>
                          </a:solidFill>
                          <a:latin typeface="Segoe UI"/>
                        </a:rPr>
                        <a:t>0.61 s</a:t>
                      </a:r>
                    </a:p>
                  </a:txBody>
                  <a:tcPr marT="50800" marB="50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44A54"/>
                          </a:solidFill>
                          <a:latin typeface="Segoe UI"/>
                        </a:rPr>
                        <a:t>0.62 s</a:t>
                      </a:r>
                    </a:p>
                  </a:txBody>
                  <a:tcPr marT="50800" marB="50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28A5E"/>
                          </a:solidFill>
                          <a:latin typeface="Segoe UI"/>
                        </a:rPr>
                        <a:t>1.65 Hz</a:t>
                      </a:r>
                    </a:p>
                  </a:txBody>
                  <a:tcPr marT="50800" marB="50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28A5E"/>
                          </a:solidFill>
                          <a:latin typeface="Segoe UI"/>
                        </a:rPr>
                        <a:t>215.4 tok/s</a:t>
                      </a:r>
                    </a:p>
                  </a:txBody>
                  <a:tcPr marT="50800" marB="50800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29768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0B2A4A"/>
                </a:solidFill>
                <a:latin typeface="Segoe UI"/>
              </a:rPr>
              <a:t>•  Warm, end-to-end latencies on an RTX 5070 (8 GB); 12 frames, single 15 s clip.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0B2A4A"/>
                </a:solidFill>
                <a:latin typeface="Segoe UI"/>
              </a:rPr>
              <a:t>•  Moondream is ~4-5× faster — the only model near real-time (~1.7 Hz).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0B2A4A"/>
                </a:solidFill>
                <a:latin typeface="Segoe UI"/>
              </a:rPr>
              <a:t>•  Qwen2.5-VL 7B gives the most accurate scene descriptions; 3B is slower than Moondream yet less accurate on this scene.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9FC7E8"/>
                </a:solidFill>
                <a:latin typeface="Segoe UI"/>
              </a:rPr>
              <a:t>PERCEPTION</a:t>
            </a:r>
          </a:p>
          <a:p>
            <a:r>
              <a:rPr sz="2600" b="1" i="0">
                <a:solidFill>
                  <a:srgbClr val="FFFFFF"/>
                </a:solidFill>
                <a:latin typeface="Segoe UI"/>
              </a:rPr>
              <a:t>VLM Qualitative Comparison — Frame 224 (t = 11.3 s)</a:t>
            </a:r>
          </a:p>
        </p:txBody>
      </p:sp>
      <p:pic>
        <p:nvPicPr>
          <p:cNvPr id="5" name="Picture 4" descr="frame_002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4206240" cy="23660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37760" y="1463040"/>
            <a:ext cx="6766560" cy="1508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7760" y="1463040"/>
            <a:ext cx="82296" cy="1508760"/>
          </a:xfrm>
          <a:prstGeom prst="rect">
            <a:avLst/>
          </a:prstGeom>
          <a:solidFill>
            <a:srgbClr val="12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66360" y="1536192"/>
            <a:ext cx="6400800" cy="1362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1F6FB2"/>
                </a:solidFill>
                <a:latin typeface="Segoe UI"/>
              </a:rPr>
              <a:t>Qwen2.5-VL 7B  (2.80 s | 51.6 tok/s)</a:t>
            </a:r>
          </a:p>
          <a:p>
            <a:r>
              <a:rPr sz="1250" b="0" i="0">
                <a:solidFill>
                  <a:srgbClr val="444A54"/>
                </a:solidFill>
                <a:latin typeface="Segoe UI"/>
              </a:rPr>
              <a:t>Objects: yellow toolbox, green cord, wheels, white t-shirt with text, gray pants. People: man in white t-shirt squatting. Summary: a person interacting with a wheeled device in an industrial setting.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3136392"/>
            <a:ext cx="6766560" cy="1508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37760" y="3136392"/>
            <a:ext cx="82296" cy="1508760"/>
          </a:xfrm>
          <a:prstGeom prst="rect">
            <a:avLst/>
          </a:prstGeom>
          <a:solidFill>
            <a:srgbClr val="12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3209544"/>
            <a:ext cx="6400800" cy="1362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1F6FB2"/>
                </a:solidFill>
                <a:latin typeface="Segoe UI"/>
              </a:rPr>
              <a:t>Qwen2.5-VL 3B  (2.60 s | 107.9 tok/s)</a:t>
            </a:r>
          </a:p>
          <a:p>
            <a:r>
              <a:rPr sz="1250" b="0" i="0">
                <a:solidFill>
                  <a:srgbClr val="444A54"/>
                </a:solidFill>
                <a:latin typeface="Segoe UI"/>
              </a:rPr>
              <a:t>A person squatting in the center of the room; yellow and black robotic feet on the floor, likely attached to a robot or machine.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4809744"/>
            <a:ext cx="6766560" cy="1508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60" y="4809744"/>
            <a:ext cx="82296" cy="1508760"/>
          </a:xfrm>
          <a:prstGeom prst="rect">
            <a:avLst/>
          </a:prstGeom>
          <a:solidFill>
            <a:srgbClr val="12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4882896"/>
            <a:ext cx="6400800" cy="1362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1F6FB2"/>
                </a:solidFill>
                <a:latin typeface="Segoe UI"/>
              </a:rPr>
              <a:t>Moondream  (0.67 s | 203.4 tok/s)</a:t>
            </a:r>
          </a:p>
          <a:p>
            <a:r>
              <a:rPr sz="1250" b="0" i="0">
                <a:solidFill>
                  <a:srgbClr val="444A54"/>
                </a:solidFill>
                <a:latin typeface="Segoe UI"/>
              </a:rPr>
              <a:t>Person in white shirt, gray pants, black shoes, and yellow shoes standing near a desk with a green cord on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