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afternoon. My name is Baaqer Farhat, and this is work done in ARCL with Mahdi Taheri on</a:t>
            </a:r>
          </a:p>
          <a:p>
            <a:r>
              <a:t>the AgiBot X2 humanoid. The summer covers two whole-body behaviors, taken from motion capture</a:t>
            </a:r>
          </a:p>
          <a:p>
            <a:r>
              <a:t>through to the real robot, and then a controlled actuator fault to test whether the</a:t>
            </a:r>
          </a:p>
          <a:p>
            <a:r>
              <a:t>controller can adapt to damage in the robot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Reinforcement learning gives you a humanoid behavior that works, but you optimize it against</a:t>
            </a:r>
          </a:p>
          <a:p>
            <a:r>
              <a:t>one particular robot: specific actuator gains, a specific payload, a specific contact model.</a:t>
            </a:r>
          </a:p>
          <a:p>
            <a:r>
              <a:t>Real hardware leaves that set almost immediately.</a:t>
            </a:r>
          </a:p>
          <a:p/>
          <a:p>
            <a:r>
              <a:t>On the right are four failures from this project's run logs. The robot stood on the edges of</a:t>
            </a:r>
          </a:p>
          <a:p>
            <a:r>
              <a:t>its feet. It tried to balance sideways through a joint with fifteen degrees of travel. The</a:t>
            </a:r>
          </a:p>
          <a:p>
            <a:r>
              <a:t>deployment fed the wrong IMU into an observation. And the one introduced deliberately, a</a:t>
            </a:r>
          </a:p>
          <a:p>
            <a:r>
              <a:t>weakened knee.</a:t>
            </a:r>
          </a:p>
          <a:p/>
          <a:p>
            <a:r>
              <a:t>In every case the policy has no way to know. So the objective is two things: behaviors that</a:t>
            </a:r>
          </a:p>
          <a:p>
            <a:r>
              <a:t>hold up outside the training distribution, and a controller that responds when its own</a:t>
            </a:r>
          </a:p>
          <a:p>
            <a:r>
              <a:t>dynamics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pipeline is the same for both behaviors. Human motion capture, retargeted onto the thirty</a:t>
            </a:r>
          </a:p>
          <a:p>
            <a:r>
              <a:t>one degree of freedom X2, gives a reference clip. A policy learns to track it with PPO in</a:t>
            </a:r>
          </a:p>
          <a:p>
            <a:r>
              <a:t>IsaacLab, four thousand environments in parallel. The actor is blind: no cameras, only</a:t>
            </a:r>
          </a:p>
          <a:p>
            <a:r>
              <a:t>proprioception and a clock into the reference. It exports to numpy and runs on the robot over</a:t>
            </a:r>
          </a:p>
          <a:p>
            <a:r>
              <a:t>ROS 2 at fifty hertz.</a:t>
            </a:r>
          </a:p>
          <a:p/>
          <a:p>
            <a:r>
              <a:t>Two things to notice. The red loop is real: fifty seven hardware runs fed back into the</a:t>
            </a:r>
          </a:p>
          <a:p>
            <a:r>
              <a:t>reward design. In green is where the adaptation sits, between the policy and the actuators.</a:t>
            </a:r>
          </a:p>
          <a:p>
            <a:r>
              <a:t>The VLM in orange is off to the side on purpose, because it is not closed on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behavior is a box pickup, one policy for the whole motion. No state machine. Bend,</a:t>
            </a:r>
          </a:p>
          <a:p>
            <a:r>
              <a:t>grasp, lift, carry, set down, stand up, in eight point seven seconds.</a:t>
            </a:r>
          </a:p>
          <a:p/>
          <a:p>
            <a:r>
              <a:t>Three things make it hard. The X2 has no fingers, so the grasp is a squeeze between two rigid</a:t>
            </a:r>
          </a:p>
          <a:p>
            <a:r>
              <a:t>palms. The policy is blind. And once the box comes up the centre of mass moves forward while</a:t>
            </a:r>
          </a:p>
          <a:p>
            <a:r>
              <a:t>the robot is already bent over, which is when it has the least margin.</a:t>
            </a:r>
          </a:p>
          <a:p/>
          <a:p>
            <a:r>
              <a:t>Left to right. Version eight balances through the whole motion, but watch the box. It never</a:t>
            </a:r>
          </a:p>
          <a:p>
            <a:r>
              <a:t>leaves the ground: the policy found it could collect most of the tracking reward by miming</a:t>
            </a:r>
          </a:p>
          <a:p>
            <a:r>
              <a:t>the motion. The middle, version ten, once a grasp reward was added, is the first time it</a:t>
            </a:r>
          </a:p>
          <a:p>
            <a:r>
              <a:t>completes the task. On the right is the policy running on hardware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the actual work was. Each row is a failure that had to be diagnosed before the</a:t>
            </a:r>
          </a:p>
          <a:p>
            <a:r>
              <a:t>next version could improve on it. Version eight kept forgetting the walk-up because the</a:t>
            </a:r>
          </a:p>
          <a:p>
            <a:r>
              <a:t>sampler mixed raw failure counts, which scale with the environment count, so the uniform term</a:t>
            </a:r>
          </a:p>
          <a:p>
            <a:r>
              <a:t>was effectively zero. Ten is the pantomime you just saw.</a:t>
            </a:r>
          </a:p>
          <a:p/>
          <a:p>
            <a:r>
              <a:t>The plots are what simulation could not find on its own. On the left, foot tilt across five</a:t>
            </a:r>
          </a:p>
          <a:p>
            <a:r>
              <a:t>checkpoints: the right foot sits past twenty degrees, standing on its edge, and no reward</a:t>
            </a:r>
          </a:p>
          <a:p>
            <a:r>
              <a:t>objected, because the engine still reports contact force on an edge.</a:t>
            </a:r>
          </a:p>
          <a:p/>
          <a:p>
            <a:r>
              <a:t>On the right is the loop that followed. The feet skated, so a slip penalty went in and foot</a:t>
            </a:r>
          </a:p>
          <a:p>
            <a:r>
              <a:t>travel dropped from twenty eight centimetres to half a centimetre. Then they stepped instead</a:t>
            </a:r>
          </a:p>
          <a:p>
            <a:r>
              <a:t>of sliding, which is free under a slip penalty, so a contact loss term went in. Then the</a:t>
            </a:r>
          </a:p>
          <a:p>
            <a:r>
              <a:t>waist rewards out-competed the slip penalty and it had to double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sim to real gap, and the clearest example of the whole workflow. Version thirty</a:t>
            </a:r>
          </a:p>
          <a:p>
            <a:r>
              <a:t>one was the best checkpoint in simulation. On the robot it fell thirteen times out of</a:t>
            </a:r>
          </a:p>
          <a:p>
            <a:r>
              <a:t>fifteen, always at about eight seconds, always the same way: the torso pitched forward and</a:t>
            </a:r>
          </a:p>
          <a:p>
            <a:r>
              <a:t>did not come back.</a:t>
            </a:r>
          </a:p>
          <a:p/>
          <a:p>
            <a:r>
              <a:t>The left plot ranks every joint by tracking error across those runs. The legs sit around five</a:t>
            </a:r>
          </a:p>
          <a:p>
            <a:r>
              <a:t>degrees, which is why the first guess, a leg problem, was wrong. One bar is at eighty four</a:t>
            </a:r>
          </a:p>
          <a:p>
            <a:r>
              <a:t>degrees, and it is the waist pitch.</a:t>
            </a:r>
          </a:p>
          <a:p/>
          <a:p>
            <a:r>
              <a:t>The middle plot shows what that means. The dashed line is what the reference clip asks for,</a:t>
            </a:r>
          </a:p>
          <a:p>
            <a:r>
              <a:t>at most eighteen degrees forward. The red line is what the policy commanded: minus one</a:t>
            </a:r>
          </a:p>
          <a:p>
            <a:r>
              <a:t>hundred and thirty one degrees, far outside anything in the clip, so the joint saturates.</a:t>
            </a:r>
          </a:p>
          <a:p>
            <a:r>
              <a:t>Nothing in the reward priced the waist, so the policy used it as a dumping ground and</a:t>
            </a:r>
          </a:p>
          <a:p>
            <a:r>
              <a:t>simulation absorbed it.</a:t>
            </a:r>
          </a:p>
          <a:p/>
          <a:p>
            <a:r>
              <a:t>The right plot is the same measurement after adding waist tracking terms. The command stays</a:t>
            </a:r>
          </a:p>
          <a:p>
            <a:r>
              <a:t>inside the clip and hardware waist error drops from thirteen degrees to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second behavior is crawling. Same stack, but prone, climbing a slope on palms and knees.</a:t>
            </a:r>
          </a:p>
          <a:p/>
          <a:p>
            <a:r>
              <a:t>The technical point is the orange box. The first attempt loaded the slope into the existing</a:t>
            </a:r>
          </a:p>
          <a:p>
            <a:r>
              <a:t>pickup task and failed completely, because the upright reward suite fights a crawl. There is</a:t>
            </a:r>
          </a:p>
          <a:p>
            <a:r>
              <a:t>a foot slip penalty, and sliding your limbs along the ground is exactly what crawling is. So</a:t>
            </a:r>
          </a:p>
          <a:p>
            <a:r>
              <a:t>the task got its own reward set, knees, elbows and palms added to the allowed contacts, and</a:t>
            </a:r>
          </a:p>
          <a:p>
            <a:r>
              <a:t>projected gravity in the actor so the policy can tell it is belly down.</a:t>
            </a:r>
          </a:p>
          <a:p/>
          <a:p>
            <a:r>
              <a:t>The middle video is the checkpoint that ran on the physical robot. On the limits: version</a:t>
            </a:r>
          </a:p>
          <a:p>
            <a:r>
              <a:t>four over smoothed the gait until it could not climb, version six made the crawl worse, and</a:t>
            </a:r>
          </a:p>
          <a:p>
            <a:r>
              <a:t>the best policy sustains seven and a half seconds of a nineteen second clip. Real, but less</a:t>
            </a:r>
          </a:p>
          <a:p>
            <a:r>
              <a:t>mature than the pickup.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behaviors work, but they are fixed policies, and that brings us to the main question.</a:t>
            </a:r>
          </a:p>
          <a:p/>
          <a:p>
            <a:r>
              <a:t>The fault has to be realistic, so the right knee stiffness is scaled to thirty percent of</a:t>
            </a:r>
          </a:p>
          <a:p>
            <a:r>
              <a:t>nominal. It still moves, but it sags whenever it is loaded, which for a robot bent over</a:t>
            </a:r>
          </a:p>
          <a:p>
            <a:r>
              <a:t>holding a box is most of the motion.</a:t>
            </a:r>
          </a:p>
          <a:p/>
          <a:p>
            <a:r>
              <a:t>Healthy, the frozen policy is essentially perfect. Add the fault and it drops to seven point</a:t>
            </a:r>
          </a:p>
          <a:p>
            <a:r>
              <a:t>four and becomes erratic. With adaptation it comes back to eleven point four.</a:t>
            </a:r>
          </a:p>
          <a:p/>
          <a:p>
            <a:r>
              <a:t>The point to land is the grey band. Nothing tells the policy a fault happened. No detector,</a:t>
            </a:r>
          </a:p>
          <a:p>
            <a:r>
              <a:t>no trigger. The adapter runs from the first control step and only ever sees tracking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method is from an ACC paper by my mentor, with Soon Jo Chung and Fred Hadaegh. The work</a:t>
            </a:r>
          </a:p>
          <a:p>
            <a:r>
              <a:t>here was taking it out of the MuJoCo testbed it shipped with, getting it running in our</a:t>
            </a:r>
          </a:p>
          <a:p>
            <a:r>
              <a:t>IsaacLab environment on a real trained policy, and finding out whether the result holds.</a:t>
            </a:r>
          </a:p>
          <a:p/>
          <a:p>
            <a:r>
              <a:t>The policy is four layers. The adapter changes exactly one weight matrix, about thirteen</a:t>
            </a:r>
          </a:p>
          <a:p>
            <a:r>
              <a:t>percent of the parameters. Everything else is frozen. No retraining, no replay, no model of</a:t>
            </a:r>
          </a:p>
          <a:p>
            <a:r>
              <a:t>the plant, and no fault detector.</a:t>
            </a:r>
          </a:p>
          <a:p/>
          <a:p>
            <a:r>
              <a:t>The only input is the green path: joint tracking error, every twenty milliseconds, pushed</a:t>
            </a:r>
          </a:p>
          <a:p>
            <a:r>
              <a:t>back through the layers above the adapted one to drive a Lyapunov update, with leakage</a:t>
            </a:r>
          </a:p>
          <a:p>
            <a:r>
              <a:t>pulling the weights toward the trained values.</a:t>
            </a:r>
          </a:p>
          <a:p/>
          <a:p>
            <a:r>
              <a:t>It costs about five milliseconds per step in numpy, which is why the same code runs on the</a:t>
            </a:r>
          </a:p>
          <a:p>
            <a:r>
              <a:t>robot, and it never persists across episodes. The red band is a defect found and fixed along</a:t>
            </a:r>
          </a:p>
          <a:p>
            <a:r>
              <a:t>the way: the leakage pulled weights toward zero rather than toward the trained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main result, and it is worth stating precisely. Six seeds, no randomization,</a:t>
            </a:r>
          </a:p>
          <a:p>
            <a:r>
              <a:t>noise off, and the baseline is the same numpy policy with the gain set to zero, so the only</a:t>
            </a:r>
          </a:p>
          <a:p>
            <a:r>
              <a:t>difference between the arms is the adaptation itself.</a:t>
            </a:r>
          </a:p>
          <a:p/>
          <a:p>
            <a:r>
              <a:t>The dashed line is the healthy robot at fourteen point seven seconds. Red is the frozen</a:t>
            </a:r>
          </a:p>
          <a:p>
            <a:r>
              <a:t>policy under the fault, at seven point four, and look at the spread. One seed dies at one</a:t>
            </a:r>
          </a:p>
          <a:p>
            <a:r>
              <a:t>point three. Green is the same policy with waist adaptation, at eleven point four.</a:t>
            </a:r>
          </a:p>
          <a:p/>
          <a:p>
            <a:r>
              <a:t>What matters is not the mean, it is the arrow between them. There is no overlap between the</a:t>
            </a:r>
          </a:p>
          <a:p>
            <a:r>
              <a:t>seeds at all: the worst adapted run beats the best frozen run. The spread also collapses from</a:t>
            </a:r>
          </a:p>
          <a:p>
            <a:r>
              <a:t>two point eight seconds to point four, so adaptation removes the catastrophic runs rather than</a:t>
            </a:r>
          </a:p>
          <a:p>
            <a:r>
              <a:t>adding time on average. And the task comes back, from four of six reaching the set down to</a:t>
            </a:r>
          </a:p>
          <a:p>
            <a:r>
              <a:t>all six.</a:t>
            </a:r>
          </a:p>
          <a:p/>
          <a:p>
            <a:r>
              <a:t>Now the orange box, the unexpected finding. The mask is which joints feed the error signal.</a:t>
            </a:r>
          </a:p>
          <a:p>
            <a:r>
              <a:t>The paper's default includes the legs, and with that mask, at the identical gain, the robot</a:t>
            </a:r>
          </a:p>
          <a:p>
            <a:r>
              <a:t>is on the floor in two and a half seconds having never lifted the box. On a floating base the</a:t>
            </a:r>
          </a:p>
          <a:p>
            <a:r>
              <a:t>legs are where balance lives, so regulating their error fights the balance the policy is</a:t>
            </a:r>
          </a:p>
          <a:p>
            <a:r>
              <a:t>already maintaining.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result as a picture.</a:t>
            </a:r>
          </a:p>
          <a:p/>
          <a:p>
            <a:r>
              <a:t>On the left, the healthy robot with the frozen policy. That is what the behavior should look</a:t>
            </a:r>
          </a:p>
          <a:p>
            <a:r>
              <a:t>like. In the middle, the identical policy with the knee at thirty percent. Watch the right</a:t>
            </a:r>
          </a:p>
          <a:p>
            <a:r>
              <a:t>side. It sags as the box loads the weakened knee, the torso pitches too far, and it goes</a:t>
            </a:r>
          </a:p>
          <a:p>
            <a:r>
              <a:t>down before the set down.</a:t>
            </a:r>
          </a:p>
          <a:p/>
          <a:p>
            <a:r>
              <a:t>On the right, same fault, same starting weights, and the only difference is that the</a:t>
            </a:r>
          </a:p>
          <a:p>
            <a:r>
              <a:t>adaptation update is running. It holds the box and reaches the set down.</a:t>
            </a:r>
          </a:p>
          <a:p/>
          <a:p>
            <a:r>
              <a:t>Nothing was retrained. The weights on the right started identical to the middle. The</a:t>
            </a:r>
          </a:p>
          <a:p>
            <a:r>
              <a:t>difference accumulated during the ten seconds you are watching.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Briefly on perception. Adaptation handles what the robot can feel in its tracking error, not</a:t>
            </a:r>
          </a:p>
          <a:p>
            <a:r>
              <a:t>something it has to look at. So the other thread is a vision language model on the robot's</a:t>
            </a:r>
          </a:p>
          <a:p>
            <a:r>
              <a:t>own camera, streamed off the robot to a workstation running the model locally.</a:t>
            </a:r>
          </a:p>
          <a:p/>
          <a:p>
            <a:r>
              <a:t>The benchmark shows a real tradeoff. Qwen at seven billion gives the best descriptions and</a:t>
            </a:r>
          </a:p>
          <a:p>
            <a:r>
              <a:t>runs at a third of a hertz. Moondream is five times faster and the least accurate. Nothing in</a:t>
            </a:r>
          </a:p>
          <a:p>
            <a:r>
              <a:t>this class fits inside a fifty hertz control loop, so this is a deliberative layer, not a</a:t>
            </a:r>
          </a:p>
          <a:p>
            <a:r>
              <a:t>reflex.</a:t>
            </a:r>
          </a:p>
          <a:p/>
          <a:p>
            <a:r>
              <a:t>To be clear about status: the output is still free text to a terminal. It is not connected to</a:t>
            </a:r>
          </a:p>
          <a:p>
            <a:r>
              <a:t>the controller, and this talk does not claim more than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Stepping back, this is the arc. Retargeting first, which meant fixing the retargeter before</a:t>
            </a:r>
          </a:p>
          <a:p>
            <a:r>
              <a:t>anything downstream worked. That fed the box pickup, thirty three training runs to reach the</a:t>
            </a:r>
          </a:p>
          <a:p>
            <a:r>
              <a:t>policy that runs today, with fifty seven logged hardware runs behind it. Crawling was the</a:t>
            </a:r>
          </a:p>
          <a:p>
            <a:r>
              <a:t>second behavior on the same infrastructure. Then the research question: a fault injection</a:t>
            </a:r>
          </a:p>
          <a:p>
            <a:r>
              <a:t>harness, the frozen policy characterized, and the adaptation law ported into our environment.</a:t>
            </a:r>
          </a:p>
          <a:p/>
          <a:p>
            <a:r>
              <a:t>On attribution. The tracking framework is holosoma, the motion data is public, and the</a:t>
            </a:r>
          </a:p>
          <a:p>
            <a:r>
              <a:t>adaptation law is my mentor's. The contribution here is the X2 integration, the task and</a:t>
            </a:r>
          </a:p>
          <a:p>
            <a:r>
              <a:t>reward design, the training, the hardware deployment, the fault experiments, and getting that</a:t>
            </a:r>
          </a:p>
          <a:p>
            <a:r>
              <a:t>law working in an environment it had never run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things stand is on the left. Both behaviors exist, both have been on the physical</a:t>
            </a:r>
          </a:p>
          <a:p>
            <a:r>
              <a:t>robot, and the adaptation runs online in simulation and in the hardware deploy loop.</a:t>
            </a:r>
          </a:p>
          <a:p/>
          <a:p>
            <a:r>
              <a:t>On the right, what comes next. First, the honest limitation: this is one fault on one pool of</a:t>
            </a:r>
          </a:p>
          <a:p>
            <a:r>
              <a:t>six seeds. A different joint and fresh seeds would make the claim properly.</a:t>
            </a:r>
          </a:p>
          <a:p/>
          <a:p>
            <a:r>
              <a:t>Second, and this is the closest, running the comparison on the physical robot. Both arms</a:t>
            </a:r>
          </a:p>
          <a:p>
            <a:r>
              <a:t>already run there. What is missing is degrading a real joint and alternating them enough</a:t>
            </a:r>
          </a:p>
          <a:p>
            <a:r>
              <a:t>times to say something with confidence.</a:t>
            </a:r>
          </a:p>
          <a:p/>
          <a:p>
            <a:r>
              <a:t>Third is a research direction. The adapter regulates joint error and assumes balance follows,</a:t>
            </a:r>
          </a:p>
          <a:p>
            <a:r>
              <a:t>and the mask result is evidence that on a floating base it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Getting a humanoid to pick up a box or crawl up a slope is a solvable problem, and it was</a:t>
            </a:r>
          </a:p>
          <a:p>
            <a:r>
              <a:t>solved twice this summer, in simulation and on the real robot.</a:t>
            </a:r>
          </a:p>
          <a:p/>
          <a:p>
            <a:r>
              <a:t>But a policy that works is not the same as a policy that is resilient. The moment the robot</a:t>
            </a:r>
          </a:p>
          <a:p>
            <a:r>
              <a:t>stops being the robot the policy was trained on, and that happens constantly on hardware,</a:t>
            </a:r>
          </a:p>
          <a:p>
            <a:r>
              <a:t>the behavior degrades and the policy cannot tell. Resilience means responding to changes in</a:t>
            </a:r>
          </a:p>
          <a:p>
            <a:r>
              <a:t>your own dynamics.</a:t>
            </a:r>
          </a:p>
          <a:p/>
          <a:p>
            <a:r>
              <a:t>Under a real actuator fault, adapting a single layer online, from nothing but tracking</a:t>
            </a:r>
          </a:p>
          <a:p>
            <a:r>
              <a:t>error, recovers a task the frozen policy loses, on every seed tested.</a:t>
            </a:r>
          </a:p>
          <a:p/>
          <a:p>
            <a:r>
              <a:t>Thank you.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backup for the healthy robot claim.</a:t>
            </a:r>
          </a:p>
          <a:p/>
          <a:p>
            <a:r>
              <a:t>The important honest point is the first bullet. The tracking result from the paper</a:t>
            </a:r>
          </a:p>
          <a:p>
            <a:r>
              <a:t>reproduces cleanly in our environment. Leg tracking error drops forty percent, against</a:t>
            </a:r>
          </a:p>
          <a:p>
            <a:r>
              <a:t>thirty seven percent in the original testbed. The law does what it says it does and it</a:t>
            </a:r>
          </a:p>
          <a:p>
            <a:r>
              <a:t>transfers across simulators.</a:t>
            </a:r>
          </a:p>
          <a:p/>
          <a:p>
            <a:r>
              <a:t>What does not transfer is the conclusion you would draw. In the original testbed the frozen</a:t>
            </a:r>
          </a:p>
          <a:p>
            <a:r>
              <a:t>baseline falls after two seconds and never finishes the motion, so there was no balance</a:t>
            </a:r>
          </a:p>
          <a:p>
            <a:r>
              <a:t>margin to lose and adaptation could only help. Our frozen baseline survives the full clip</a:t>
            </a:r>
          </a:p>
          <a:p>
            <a:r>
              <a:t>and completes the task on every seed. So the same law is spending balance margin to buy</a:t>
            </a:r>
          </a:p>
          <a:p>
            <a:r>
              <a:t>tracking accuracy that this task did not need, and the result is worse.</a:t>
            </a:r>
          </a:p>
          <a:p/>
          <a:p>
            <a:r>
              <a:t>That is exactly why the fault experiment is the one that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one is here in case it comes up, because the method matters more than the bug.</a:t>
            </a:r>
          </a:p>
          <a:p/>
          <a:p>
            <a:r>
              <a:t>Version thirty three worked in simulation and failed on hardware every time, always</a:t>
            </a:r>
          </a:p>
          <a:p>
            <a:r>
              <a:t>aborting on roll at roughly the same point in the motion.</a:t>
            </a:r>
          </a:p>
          <a:p/>
          <a:p>
            <a:r>
              <a:t>The first diagnosis was wrong, and it was wrong for an instructive reason. The hardware logs</a:t>
            </a:r>
          </a:p>
          <a:p>
            <a:r>
              <a:t>were compared against the only simulation rollout saved at the time, which came from a</a:t>
            </a:r>
          </a:p>
          <a:p>
            <a:r>
              <a:t>different policy version. That mismatched baseline pointed at a saturated ankle joint.</a:t>
            </a:r>
          </a:p>
          <a:p/>
          <a:p>
            <a:r>
              <a:t>Against a properly matched simulation, same policy, same clip, the saturation explanation</a:t>
            </a:r>
          </a:p>
          <a:p>
            <a:r>
              <a:t>fell apart, because simulation saturates that joint even more than hardware does and still</a:t>
            </a:r>
          </a:p>
          <a:p>
            <a:r>
              <a:t>succeeds.</a:t>
            </a:r>
          </a:p>
          <a:p/>
          <a:p>
            <a:r>
              <a:t>The real cause was the deployment feeding the torso IMU into an observation the training</a:t>
            </a:r>
          </a:p>
          <a:p>
            <a:r>
              <a:t>environment computes at the pelvis, and the torso sits three waist joints above the pelvis.</a:t>
            </a:r>
          </a:p>
          <a:p>
            <a:r>
              <a:t>Wrong body, wrong frame.</a:t>
            </a:r>
          </a:p>
          <a:p/>
          <a:p>
            <a:r>
              <a:t>The confirmation is what makes it conclusive. Reproducing that exact substitution inside</a:t>
            </a:r>
          </a:p>
          <a:p>
            <a:r>
              <a:t>simulation, where the pelvis signal is available as ground truth, took the policy from one</a:t>
            </a:r>
          </a:p>
          <a:p>
            <a:r>
              <a:t>hundred percent success to zero, falling in the same time window as the robot did. The</a:t>
            </a:r>
          </a:p>
          <a:p>
            <a:r>
              <a:t>defect explains the failure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Configuration reference. Use if asked about specific hyperparameters, the fault definition, or how to reproduce a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83664"/>
          </a:xfrm>
          <a:prstGeom prst="rect">
            <a:avLst/>
          </a:prstGeom>
          <a:solidFill>
            <a:srgbClr val="15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83664"/>
            <a:ext cx="12191695" cy="5029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9960559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Resilient Humanoid Loco-Manipulation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700" b="0" i="0">
                <a:solidFill>
                  <a:srgbClr val="A9C4DE"/>
                </a:solidFill>
                <a:latin typeface="Arial"/>
              </a:rPr>
              <a:t>Learned whole-body policies and online layer adaptation under actuator faults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487168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52240"/>
                </a:solidFill>
                <a:latin typeface="Arial"/>
              </a:rPr>
              <a:t>Baaqer Farhat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054096"/>
            <a:ext cx="566928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152240"/>
                </a:solidFill>
                <a:latin typeface="Arial"/>
              </a:rPr>
              <a:t>Mentor:  Mahdi Taheri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5C6670"/>
                </a:solidFill>
                <a:latin typeface="Arial"/>
              </a:rPr>
              <a:t>Aerospace Robotics and Control Lab (ARCL)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5C6670"/>
                </a:solidFill>
                <a:latin typeface="Arial"/>
              </a:rPr>
              <a:t>California Institute of Technology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C6670"/>
                </a:solidFill>
                <a:latin typeface="Arial"/>
              </a:rPr>
              <a:t>Summer Undergraduate Research Fellowship,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791456"/>
            <a:ext cx="2558720" cy="932688"/>
          </a:xfrm>
          <a:prstGeom prst="roundRect">
            <a:avLst>
              <a:gd name="adj" fmla="val 100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4791456"/>
            <a:ext cx="50292" cy="9326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4928616"/>
            <a:ext cx="219296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52240"/>
                </a:solidFill>
                <a:latin typeface="Arial"/>
              </a:rPr>
              <a:t>8.7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5340096"/>
            <a:ext cx="21929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0"/>
                </a:solidFill>
                <a:latin typeface="Arial"/>
              </a:rPr>
              <a:t>whole-body box pickup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9968" y="4791456"/>
            <a:ext cx="2558720" cy="932688"/>
          </a:xfrm>
          <a:prstGeom prst="roundRect">
            <a:avLst>
              <a:gd name="adj" fmla="val 100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99968" y="4791456"/>
            <a:ext cx="50292" cy="9326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9424" y="4928616"/>
            <a:ext cx="219296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52240"/>
                </a:solidFill>
                <a:latin typeface="Arial"/>
              </a:rPr>
              <a:t>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9424" y="5340096"/>
            <a:ext cx="21929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0"/>
                </a:solidFill>
                <a:latin typeface="Arial"/>
              </a:rPr>
              <a:t>logged hardware runs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8" y="4791456"/>
            <a:ext cx="2558720" cy="932688"/>
          </a:xfrm>
          <a:prstGeom prst="roundRect">
            <a:avLst>
              <a:gd name="adj" fmla="val 100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8" y="4791456"/>
            <a:ext cx="50292" cy="9326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2464" y="4928616"/>
            <a:ext cx="219296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52240"/>
                </a:solidFill>
                <a:latin typeface="Arial"/>
              </a:rPr>
              <a:t>+53%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2464" y="5340096"/>
            <a:ext cx="21929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0"/>
                </a:solidFill>
                <a:latin typeface="Arial"/>
              </a:rPr>
              <a:t>survival under a knee fault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6047" y="4791456"/>
            <a:ext cx="2558720" cy="932688"/>
          </a:xfrm>
          <a:prstGeom prst="roundRect">
            <a:avLst>
              <a:gd name="adj" fmla="val 100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66047" y="4791456"/>
            <a:ext cx="50292" cy="9326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5503" y="4928616"/>
            <a:ext cx="219296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52240"/>
                </a:solidFill>
                <a:latin typeface="Arial"/>
              </a:rPr>
              <a:t>50 Hz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5503" y="5340096"/>
            <a:ext cx="21929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0"/>
                </a:solidFill>
                <a:latin typeface="Arial"/>
              </a:rPr>
              <a:t>online adaptation, numpy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86C1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2240"/>
                </a:solidFill>
                <a:latin typeface="Arial"/>
              </a:rPr>
              <a:t>A policy is only correct for the robot it was trained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29284"/>
            <a:ext cx="1298448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36192"/>
            <a:ext cx="5897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 i="0">
                <a:solidFill>
                  <a:srgbClr val="2E86C1"/>
                </a:solidFill>
                <a:latin typeface="Arial"/>
              </a:rPr>
              <a:t>•   </a:t>
            </a:r>
            <a:r>
              <a:rPr sz="1550" b="1" i="0">
                <a:solidFill>
                  <a:srgbClr val="152240"/>
                </a:solidFill>
                <a:latin typeface="Arial"/>
              </a:rPr>
              <a:t>Every policy is optimized against one fixed set of dynamics: </a:t>
            </a:r>
            <a:r>
              <a:rPr sz="1550" b="0" i="0">
                <a:solidFill>
                  <a:srgbClr val="152240"/>
                </a:solidFill>
                <a:latin typeface="Arial"/>
              </a:rPr>
              <a:t>nominal PD gains, a known payload, a particular contact model.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 i="0">
                <a:solidFill>
                  <a:srgbClr val="2E86C1"/>
                </a:solidFill>
                <a:latin typeface="Arial"/>
              </a:rPr>
              <a:t>•   </a:t>
            </a:r>
            <a:r>
              <a:rPr sz="1550" b="1" i="0">
                <a:solidFill>
                  <a:srgbClr val="152240"/>
                </a:solidFill>
                <a:latin typeface="Arial"/>
              </a:rPr>
              <a:t>Real robots leave that set. </a:t>
            </a:r>
            <a:r>
              <a:rPr sz="1550" b="0" i="0">
                <a:solidFill>
                  <a:srgbClr val="152240"/>
                </a:solidFill>
                <a:latin typeface="Arial"/>
              </a:rPr>
              <a:t>Actuators weaken, payloads change, and the sensors the policy trained on are not the sensors the hardware has.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 i="0">
                <a:solidFill>
                  <a:srgbClr val="2E86C1"/>
                </a:solidFill>
                <a:latin typeface="Arial"/>
              </a:rPr>
              <a:t>•   </a:t>
            </a:r>
            <a:r>
              <a:rPr sz="1550" b="1" i="0">
                <a:solidFill>
                  <a:srgbClr val="152240"/>
                </a:solidFill>
                <a:latin typeface="Arial"/>
              </a:rPr>
              <a:t>A frozen policy cannot notice. </a:t>
            </a:r>
            <a:r>
              <a:rPr sz="1550" b="0" i="0">
                <a:solidFill>
                  <a:srgbClr val="152240"/>
                </a:solidFill>
                <a:latin typeface="Arial"/>
              </a:rPr>
              <a:t>It keeps issuing the commands that were optimal for a robot it is no longer controlling.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61104"/>
            <a:ext cx="58978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2E86C1"/>
                </a:solidFill>
                <a:latin typeface="Arial"/>
              </a:rPr>
              <a:t>Objective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52240"/>
                </a:solidFill>
                <a:latin typeface="Arial"/>
              </a:rPr>
              <a:t>Behaviors that survive conditions outside the training distribution, and a controller that responds to changes in the robot's own dynamics without being told what changed.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0296" y="1316736"/>
            <a:ext cx="4684471" cy="3749040"/>
          </a:xfrm>
          <a:prstGeom prst="roundRect">
            <a:avLst>
              <a:gd name="adj" fmla="val 55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14616" y="1554480"/>
            <a:ext cx="413583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C6670"/>
                </a:solidFill>
                <a:latin typeface="Arial"/>
              </a:rPr>
              <a:t>OBSERVED ON THIS ROBOT</a:t>
            </a:r>
          </a:p>
        </p:txBody>
      </p:sp>
      <p:sp>
        <p:nvSpPr>
          <p:cNvPr id="9" name="Rectangle 8"/>
          <p:cNvSpPr/>
          <p:nvPr/>
        </p:nvSpPr>
        <p:spPr>
          <a:xfrm>
            <a:off x="7214616" y="1924812"/>
            <a:ext cx="41148" cy="6583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97496" y="1883664"/>
            <a:ext cx="3934663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2240"/>
                </a:solidFill>
                <a:latin typeface="Arial"/>
              </a:rPr>
              <a:t>Feet on their edges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670"/>
                </a:solidFill>
                <a:latin typeface="Arial"/>
              </a:rPr>
              <a:t>Sim reported contact force, so the reward counted the foot as planted.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14616" y="2720340"/>
            <a:ext cx="41148" cy="6583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97496" y="2679192"/>
            <a:ext cx="3934663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2240"/>
                </a:solidFill>
                <a:latin typeface="Arial"/>
              </a:rPr>
              <a:t>Saturated ankle roll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670"/>
                </a:solidFill>
                <a:latin typeface="Arial"/>
              </a:rPr>
              <a:t>Frontal-plane correction ran through a joint with 15° of travel.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14616" y="3515868"/>
            <a:ext cx="41148" cy="6583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97496" y="3474720"/>
            <a:ext cx="3934663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2240"/>
                </a:solidFill>
                <a:latin typeface="Arial"/>
              </a:rPr>
              <a:t>Wrong base frame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670"/>
                </a:solidFill>
                <a:latin typeface="Arial"/>
              </a:rPr>
              <a:t>Torso IMU fed into an observation holosoma builds from the pelvis.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14616" y="4311396"/>
            <a:ext cx="41148" cy="65836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97496" y="4270248"/>
            <a:ext cx="3934663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2240"/>
                </a:solidFill>
                <a:latin typeface="Arial"/>
              </a:rPr>
              <a:t>Weakened actuator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670"/>
                </a:solidFill>
                <a:latin typeface="Arial"/>
              </a:rPr>
              <a:t>Right knee at 30% stiffness. Survival falls from 14.7 s to 7.4 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382512"/>
            <a:ext cx="82933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SURF 2026  ·  Baaqer Farhat  ·  Caltech ARCL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86C1"/>
                </a:solidFill>
                <a:latin typeface="Arial"/>
              </a:rPr>
              <a:t>SYSTEM AND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2240"/>
                </a:solidFill>
                <a:latin typeface="Arial"/>
              </a:rPr>
              <a:t>From human motion capture to a policy on the robot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29284"/>
            <a:ext cx="1298448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2249424"/>
            <a:ext cx="1572768" cy="859536"/>
          </a:xfrm>
          <a:prstGeom prst="roundRect">
            <a:avLst>
              <a:gd name="adj" fmla="val 10000"/>
            </a:avLst>
          </a:prstGeom>
          <a:solidFill>
            <a:srgbClr val="EFF3F7"/>
          </a:solidFill>
          <a:ln w="16510">
            <a:solidFill>
              <a:srgbClr val="152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68296"/>
            <a:ext cx="142646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52240"/>
                </a:solidFill>
                <a:latin typeface="Arial"/>
              </a:rPr>
              <a:t>Human MoCap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0"/>
                </a:solidFill>
                <a:latin typeface="Arial"/>
              </a:rPr>
              <a:t>OmniRetarget
CMU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3942" y="2249424"/>
            <a:ext cx="1572768" cy="859536"/>
          </a:xfrm>
          <a:prstGeom prst="roundRect">
            <a:avLst>
              <a:gd name="adj" fmla="val 10000"/>
            </a:avLst>
          </a:prstGeom>
          <a:solidFill>
            <a:srgbClr val="EFF3F7"/>
          </a:solidFill>
          <a:ln w="16510">
            <a:solidFill>
              <a:srgbClr val="152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37094" y="2368296"/>
            <a:ext cx="142646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52240"/>
                </a:solidFill>
                <a:latin typeface="Arial"/>
              </a:rPr>
              <a:t>Retargeting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7094" y="2651760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0"/>
                </a:solidFill>
                <a:latin typeface="Arial"/>
              </a:rPr>
              <a:t>interaction mesh
→ 31 DOF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0956" y="2249424"/>
            <a:ext cx="1572768" cy="859536"/>
          </a:xfrm>
          <a:prstGeom prst="roundRect">
            <a:avLst>
              <a:gd name="adj" fmla="val 10000"/>
            </a:avLst>
          </a:prstGeom>
          <a:solidFill>
            <a:srgbClr val="EFF3F7"/>
          </a:solidFill>
          <a:ln w="16510">
            <a:solidFill>
              <a:srgbClr val="152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108" y="2368296"/>
            <a:ext cx="142646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52240"/>
                </a:solidFill>
                <a:latin typeface="Arial"/>
              </a:rPr>
              <a:t>Reference clip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108" y="2651760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0"/>
                </a:solidFill>
                <a:latin typeface="Arial"/>
              </a:rPr>
              <a:t>8.7 s pickup
19 s crawl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7971" y="2249424"/>
            <a:ext cx="1572768" cy="859536"/>
          </a:xfrm>
          <a:prstGeom prst="roundRect">
            <a:avLst>
              <a:gd name="adj" fmla="val 10000"/>
            </a:avLst>
          </a:prstGeom>
          <a:solidFill>
            <a:srgbClr val="DDEBF6"/>
          </a:solidFill>
          <a:ln w="1651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1123" y="2368296"/>
            <a:ext cx="142646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52240"/>
                </a:solidFill>
                <a:latin typeface="Arial"/>
              </a:rPr>
              <a:t>RL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1123" y="2651760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0"/>
                </a:solidFill>
                <a:latin typeface="Arial"/>
              </a:rPr>
              <a:t>IsaacLab +
holosoma, PPO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4985" y="2249424"/>
            <a:ext cx="1572768" cy="859536"/>
          </a:xfrm>
          <a:prstGeom prst="roundRect">
            <a:avLst>
              <a:gd name="adj" fmla="val 10000"/>
            </a:avLst>
          </a:prstGeom>
          <a:solidFill>
            <a:srgbClr val="EFF3F7"/>
          </a:solidFill>
          <a:ln w="16510">
            <a:solidFill>
              <a:srgbClr val="152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8137" y="2368296"/>
            <a:ext cx="142646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52240"/>
                </a:solidFill>
                <a:latin typeface="Arial"/>
              </a:rPr>
              <a:t>Export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8137" y="2651760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0"/>
                </a:solidFill>
                <a:latin typeface="Arial"/>
              </a:rPr>
              <a:t>self-contained
numpy .npz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1999" y="2249424"/>
            <a:ext cx="1572768" cy="859536"/>
          </a:xfrm>
          <a:prstGeom prst="roundRect">
            <a:avLst>
              <a:gd name="adj" fmla="val 10000"/>
            </a:avLst>
          </a:prstGeom>
          <a:solidFill>
            <a:srgbClr val="DDEBF6"/>
          </a:solidFill>
          <a:ln w="1651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25151" y="2368296"/>
            <a:ext cx="142646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52240"/>
                </a:solidFill>
                <a:latin typeface="Arial"/>
              </a:rPr>
              <a:t>AgiBot X2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25151" y="2651760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0"/>
                </a:solidFill>
                <a:latin typeface="Arial"/>
              </a:rPr>
              <a:t>ROS 2
50 Hz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139696" y="2679192"/>
            <a:ext cx="324246" cy="0"/>
          </a:xfrm>
          <a:prstGeom prst="line">
            <a:avLst/>
          </a:prstGeom>
          <a:ln w="21590">
            <a:solidFill>
              <a:srgbClr val="C5CD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036710" y="2679192"/>
            <a:ext cx="324246" cy="0"/>
          </a:xfrm>
          <a:prstGeom prst="line">
            <a:avLst/>
          </a:prstGeom>
          <a:ln w="21590">
            <a:solidFill>
              <a:srgbClr val="C5CD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33724" y="2679192"/>
            <a:ext cx="324247" cy="0"/>
          </a:xfrm>
          <a:prstGeom prst="line">
            <a:avLst/>
          </a:prstGeom>
          <a:ln w="21590">
            <a:solidFill>
              <a:srgbClr val="C5CD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30739" y="2679192"/>
            <a:ext cx="324246" cy="0"/>
          </a:xfrm>
          <a:prstGeom prst="line">
            <a:avLst/>
          </a:prstGeom>
          <a:ln w="21590">
            <a:solidFill>
              <a:srgbClr val="C5CD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727753" y="2679192"/>
            <a:ext cx="324246" cy="0"/>
          </a:xfrm>
          <a:prstGeom prst="line">
            <a:avLst/>
          </a:prstGeom>
          <a:ln w="21590">
            <a:solidFill>
              <a:srgbClr val="C5CD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448495" y="1335024"/>
            <a:ext cx="2176272" cy="621792"/>
          </a:xfrm>
          <a:prstGeom prst="roundRect">
            <a:avLst>
              <a:gd name="adj" fmla="val 10000"/>
            </a:avLst>
          </a:prstGeom>
          <a:solidFill>
            <a:srgbClr val="FBF1E3"/>
          </a:solidFill>
          <a:ln w="17780">
            <a:solidFill>
              <a:srgbClr val="B9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8223" y="1417320"/>
            <a:ext cx="1956816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9770E"/>
                </a:solidFill>
                <a:latin typeface="Arial"/>
              </a:rPr>
              <a:t>Head RGB → VLM</a:t>
            </a:r>
          </a:p>
          <a:p>
            <a:pPr algn="ctr">
              <a:lnSpc>
                <a:spcPct val="128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B9770E"/>
                </a:solidFill>
                <a:latin typeface="Arial"/>
              </a:rPr>
              <a:t>scene description, open loop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10838383" y="1956816"/>
            <a:ext cx="0" cy="292608"/>
          </a:xfrm>
          <a:prstGeom prst="line">
            <a:avLst/>
          </a:prstGeom>
          <a:ln w="19050">
            <a:solidFill>
              <a:srgbClr val="B9770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953817" y="3529584"/>
            <a:ext cx="1975104" cy="658368"/>
          </a:xfrm>
          <a:prstGeom prst="roundRect">
            <a:avLst>
              <a:gd name="adj" fmla="val 10000"/>
            </a:avLst>
          </a:prstGeom>
          <a:solidFill>
            <a:srgbClr val="EAF5EC"/>
          </a:solidFill>
          <a:ln w="19050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26969" y="3621024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8449"/>
                </a:solidFill>
                <a:latin typeface="Arial"/>
              </a:rPr>
              <a:t>Online layer adaptation</a:t>
            </a:r>
          </a:p>
          <a:p>
            <a:pPr algn="ctr">
              <a:lnSpc>
                <a:spcPct val="128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1E8449"/>
                </a:solidFill>
                <a:latin typeface="Arial"/>
              </a:rPr>
              <a:t>50 Hz  ·  numpy  ·  5.25 ms / step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941369" y="3108960"/>
            <a:ext cx="0" cy="420624"/>
          </a:xfrm>
          <a:prstGeom prst="line">
            <a:avLst/>
          </a:prstGeom>
          <a:ln w="20320">
            <a:solidFill>
              <a:srgbClr val="1E84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928921" y="3858768"/>
            <a:ext cx="909462" cy="0"/>
          </a:xfrm>
          <a:prstGeom prst="line">
            <a:avLst/>
          </a:prstGeom>
          <a:ln w="20320">
            <a:solidFill>
              <a:srgbClr val="1E84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0838383" y="3108960"/>
            <a:ext cx="0" cy="749808"/>
          </a:xfrm>
          <a:prstGeom prst="line">
            <a:avLst/>
          </a:prstGeom>
          <a:ln w="20320">
            <a:solidFill>
              <a:srgbClr val="1E84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423599" y="3108960"/>
            <a:ext cx="0" cy="1609344"/>
          </a:xfrm>
          <a:prstGeom prst="line">
            <a:avLst/>
          </a:prstGeom>
          <a:ln w="19050">
            <a:solidFill>
              <a:srgbClr val="C0392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7044355" y="4718304"/>
            <a:ext cx="4379244" cy="0"/>
          </a:xfrm>
          <a:prstGeom prst="line">
            <a:avLst/>
          </a:prstGeom>
          <a:ln w="19050">
            <a:solidFill>
              <a:srgbClr val="C0392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044355" y="3108960"/>
            <a:ext cx="0" cy="1609344"/>
          </a:xfrm>
          <a:prstGeom prst="line">
            <a:avLst/>
          </a:prstGeom>
          <a:ln w="19050">
            <a:solidFill>
              <a:srgbClr val="C0392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257971" y="4809744"/>
            <a:ext cx="516562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C0392B"/>
                </a:solidFill>
                <a:latin typeface="Arial"/>
              </a:rPr>
              <a:t>57 logged hardware runs → new reward terms and observation fixes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5358384"/>
            <a:ext cx="11057839" cy="457200"/>
          </a:xfrm>
          <a:prstGeom prst="roundRect">
            <a:avLst>
              <a:gd name="adj" fmla="val 100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" y="5358384"/>
            <a:ext cx="10618927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2240"/>
                </a:solidFill>
                <a:latin typeface="Arial"/>
              </a:rPr>
              <a:t>4096 </a:t>
            </a:r>
            <a:r>
              <a:rPr sz="1100" b="0" i="0">
                <a:solidFill>
                  <a:srgbClr val="5C6670"/>
                </a:solidFill>
                <a:latin typeface="Arial"/>
              </a:rPr>
              <a:t>parallel envs      </a:t>
            </a:r>
            <a:r>
              <a:rPr sz="1100" b="1" i="0">
                <a:solidFill>
                  <a:srgbClr val="152240"/>
                </a:solidFill>
                <a:latin typeface="Arial"/>
              </a:rPr>
              <a:t>200 Hz </a:t>
            </a:r>
            <a:r>
              <a:rPr sz="1100" b="0" i="0">
                <a:solidFill>
                  <a:srgbClr val="5C6670"/>
                </a:solidFill>
                <a:latin typeface="Arial"/>
              </a:rPr>
              <a:t>physics / </a:t>
            </a:r>
            <a:r>
              <a:rPr sz="1100" b="1" i="0">
                <a:solidFill>
                  <a:srgbClr val="152240"/>
                </a:solidFill>
                <a:latin typeface="Arial"/>
              </a:rPr>
              <a:t>50 Hz </a:t>
            </a:r>
            <a:r>
              <a:rPr sz="1100" b="0" i="0">
                <a:solidFill>
                  <a:srgbClr val="5C6670"/>
                </a:solidFill>
                <a:latin typeface="Arial"/>
              </a:rPr>
              <a:t>control      </a:t>
            </a:r>
            <a:r>
              <a:rPr sz="1100" b="1" i="0">
                <a:solidFill>
                  <a:srgbClr val="152240"/>
                </a:solidFill>
                <a:latin typeface="Arial"/>
              </a:rPr>
              <a:t>blind actor MLP 512-256-128 </a:t>
            </a:r>
            <a:r>
              <a:rPr sz="1100" b="0" i="0">
                <a:solidFill>
                  <a:srgbClr val="5C6670"/>
                </a:solidFill>
                <a:latin typeface="Arial"/>
              </a:rPr>
              <a:t>(ELU)      </a:t>
            </a:r>
            <a:r>
              <a:rPr sz="1100" b="1" i="0">
                <a:solidFill>
                  <a:srgbClr val="152240"/>
                </a:solidFill>
                <a:latin typeface="Arial"/>
              </a:rPr>
              <a:t>DR: </a:t>
            </a:r>
            <a:r>
              <a:rPr sz="1100" b="0" i="0">
                <a:solidFill>
                  <a:srgbClr val="5C6670"/>
                </a:solidFill>
                <a:latin typeface="Arial"/>
              </a:rPr>
              <a:t>box mass, friction, PD gain, action delay, encoder noise, pushes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382512"/>
            <a:ext cx="82933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SURF 2026  ·  Baaqer Farhat  ·  Caltech ARCL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86C1"/>
                </a:solidFill>
                <a:latin typeface="Arial"/>
              </a:rPr>
              <a:t>BEHAVIOR 1  ·  LOCO-MANIPULATION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2240"/>
                </a:solidFill>
                <a:latin typeface="Arial"/>
              </a:rPr>
              <a:t>Box pickup: one policy for the whole 8.7 second motion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29284"/>
            <a:ext cx="1298448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52240"/>
                </a:solidFill>
                <a:latin typeface="Arial"/>
              </a:rPr>
              <a:t>From the default standing pose the robot bends to a 45 cm box, squeezes it between two rigid fingerless palms, lifts it to chest height, carries it 1.4 m, and sets it down over planted feet.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68512" y="1261872"/>
            <a:ext cx="2956255" cy="713232"/>
          </a:xfrm>
          <a:prstGeom prst="roundRect">
            <a:avLst>
              <a:gd name="adj" fmla="val 10000"/>
            </a:avLst>
          </a:prstGeom>
          <a:solidFill>
            <a:srgbClr val="FBEBE9"/>
          </a:solidFill>
          <a:ln w="1651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33104" y="1261872"/>
            <a:ext cx="2627071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0392B"/>
                </a:solidFill>
                <a:latin typeface="Arial"/>
              </a:rPr>
              <a:t>No fingers, no cameras, and the payload moves the centre of mass while the robot is bent over.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11680"/>
            <a:ext cx="3503066" cy="3108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2011680"/>
            <a:ext cx="324703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VIDEO 1   </a:t>
            </a:r>
            <a:r>
              <a:rPr sz="1050" b="0" i="0">
                <a:solidFill>
                  <a:srgbClr val="FFFFFF"/>
                </a:solidFill>
                <a:latin typeface="Arial"/>
              </a:rPr>
              <a:t>Early  ·  v8, iter 8000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22576"/>
            <a:ext cx="3503066" cy="1970475"/>
          </a:xfrm>
          <a:prstGeom prst="rect">
            <a:avLst/>
          </a:prstGeom>
          <a:solidFill>
            <a:srgbClr val="111418"/>
          </a:solidFill>
          <a:ln w="1587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pic>
        <p:nvPicPr>
          <p:cNvPr id="11" name="Picture 10" descr="box1_v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22576"/>
            <a:ext cx="3503066" cy="197047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66928" y="2322576"/>
            <a:ext cx="3503066" cy="1970475"/>
          </a:xfrm>
          <a:prstGeom prst="rect">
            <a:avLst/>
          </a:prstGeom>
          <a:noFill/>
          <a:ln w="1587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117293" y="3106645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 rot="5400000">
            <a:off x="2237994" y="3207229"/>
            <a:ext cx="144841" cy="201168"/>
          </a:xfrm>
          <a:prstGeom prst="triangl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384491"/>
            <a:ext cx="350306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52240"/>
                </a:solidFill>
                <a:latin typeface="Arial"/>
              </a:rPr>
              <a:t>Balances through the full motion but pantomimes the lift. The box never leaves the floor.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850" b="0" i="0">
                <a:solidFill>
                  <a:srgbClr val="5C6670"/>
                </a:solidFill>
                <a:latin typeface="Consolas"/>
              </a:rPr>
              <a:t>x2_box_v8_iter8000_full.mp4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4314" y="2011680"/>
            <a:ext cx="3503066" cy="3108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2330" y="2011680"/>
            <a:ext cx="324703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VIDEO 2   </a:t>
            </a:r>
            <a:r>
              <a:rPr sz="1050" b="0" i="0">
                <a:solidFill>
                  <a:srgbClr val="FFFFFF"/>
                </a:solidFill>
                <a:latin typeface="Arial"/>
              </a:rPr>
              <a:t>Intermediate  ·  v10, iter 28000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4314" y="2322576"/>
            <a:ext cx="3503066" cy="1970475"/>
          </a:xfrm>
          <a:prstGeom prst="rect">
            <a:avLst/>
          </a:prstGeom>
          <a:solidFill>
            <a:srgbClr val="111418"/>
          </a:solidFill>
          <a:ln w="1587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pic>
        <p:nvPicPr>
          <p:cNvPr id="19" name="Picture 18" descr="box2_v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314" y="2322576"/>
            <a:ext cx="3503066" cy="1970475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344314" y="2322576"/>
            <a:ext cx="3503066" cy="1970475"/>
          </a:xfrm>
          <a:prstGeom prst="rect">
            <a:avLst/>
          </a:prstGeom>
          <a:noFill/>
          <a:ln w="1587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94680" y="3106645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5400000">
            <a:off x="6015380" y="3207229"/>
            <a:ext cx="144841" cy="201168"/>
          </a:xfrm>
          <a:prstGeom prst="triangl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4314" y="4384491"/>
            <a:ext cx="350306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52240"/>
                </a:solidFill>
                <a:latin typeface="Arial"/>
              </a:rPr>
              <a:t>First complete pickup, carry and set-down in simulation after the two-hand grasp reward.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850" b="0" i="0">
                <a:solidFill>
                  <a:srgbClr val="5C6670"/>
                </a:solidFill>
                <a:latin typeface="Consolas"/>
              </a:rPr>
              <a:t>x2_box_v10_iter28000_final.mp4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21701" y="2011680"/>
            <a:ext cx="3503066" cy="310896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9717" y="2011680"/>
            <a:ext cx="324703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VIDEO 3   </a:t>
            </a:r>
            <a:r>
              <a:rPr sz="1050" b="0" i="0">
                <a:solidFill>
                  <a:srgbClr val="FFFFFF"/>
                </a:solidFill>
                <a:latin typeface="Arial"/>
              </a:rPr>
              <a:t>Current  ·  v33, iter 253000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21701" y="2322576"/>
            <a:ext cx="3503066" cy="1970475"/>
          </a:xfrm>
          <a:prstGeom prst="rect">
            <a:avLst/>
          </a:prstGeom>
          <a:solidFill>
            <a:srgbClr val="111418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pic>
        <p:nvPicPr>
          <p:cNvPr id="27" name="Picture 26" descr="box3_v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1701" y="2322576"/>
            <a:ext cx="3503066" cy="1970475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8121701" y="2322576"/>
            <a:ext cx="3503066" cy="1970475"/>
          </a:xfrm>
          <a:prstGeom prst="rect">
            <a:avLst/>
          </a:prstGeom>
          <a:noFill/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72066" y="3106645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5400000">
            <a:off x="9792767" y="3207229"/>
            <a:ext cx="144841" cy="201168"/>
          </a:xfrm>
          <a:prstGeom prst="triangle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21701" y="4384491"/>
            <a:ext cx="350306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52240"/>
                </a:solidFill>
                <a:latin typeface="Arial"/>
              </a:rPr>
              <a:t>Flat planted feet, quiet waist, returns fully upright. This is the deployed policy.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850" b="0" i="0">
                <a:solidFill>
                  <a:srgbClr val="5C6670"/>
                </a:solidFill>
                <a:latin typeface="Consolas"/>
              </a:rPr>
              <a:t>x2_box_v33_waist_track_iter253000.mp4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5394960"/>
            <a:ext cx="1271016" cy="420624"/>
          </a:xfrm>
          <a:prstGeom prst="rect">
            <a:avLst/>
          </a:prstGeom>
          <a:solidFill>
            <a:srgbClr val="EFF3F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5394960"/>
            <a:ext cx="119786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52240"/>
                </a:solidFill>
                <a:latin typeface="Arial"/>
              </a:rPr>
              <a:t>hold upright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37944" y="5394960"/>
            <a:ext cx="1906524" cy="420624"/>
          </a:xfrm>
          <a:prstGeom prst="rect">
            <a:avLst/>
          </a:prstGeom>
          <a:solidFill>
            <a:srgbClr val="DDEBF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74520" y="5394960"/>
            <a:ext cx="1833372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52240"/>
                </a:solidFill>
                <a:latin typeface="Arial"/>
              </a:rPr>
              <a:t>bend down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44468" y="5394960"/>
            <a:ext cx="635508" cy="420624"/>
          </a:xfrm>
          <a:prstGeom prst="rect">
            <a:avLst/>
          </a:prstGeom>
          <a:solidFill>
            <a:srgbClr val="2E86C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81044" y="5394960"/>
            <a:ext cx="56235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grasp + lift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79976" y="5394960"/>
            <a:ext cx="3558845" cy="420624"/>
          </a:xfrm>
          <a:prstGeom prst="rect">
            <a:avLst/>
          </a:prstGeom>
          <a:solidFill>
            <a:srgbClr val="DDEBF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16552" y="5394960"/>
            <a:ext cx="348569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52240"/>
                </a:solidFill>
                <a:latin typeface="Arial"/>
              </a:rPr>
              <a:t>carry 1.4 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38821" y="5394960"/>
            <a:ext cx="2796235" cy="420624"/>
          </a:xfrm>
          <a:prstGeom prst="rect">
            <a:avLst/>
          </a:prstGeom>
          <a:solidFill>
            <a:srgbClr val="DDEBF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5397" y="5394960"/>
            <a:ext cx="2723083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52240"/>
                </a:solidFill>
                <a:latin typeface="Arial"/>
              </a:rPr>
              <a:t>set down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735056" y="5394960"/>
            <a:ext cx="889711" cy="420624"/>
          </a:xfrm>
          <a:prstGeom prst="rect">
            <a:avLst/>
          </a:prstGeom>
          <a:solidFill>
            <a:srgbClr val="EFF3F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71632" y="5394960"/>
            <a:ext cx="816559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52240"/>
                </a:solidFill>
                <a:latin typeface="Arial"/>
              </a:rPr>
              <a:t>stand up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5897880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0 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5897880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8.7 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102352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0"/>
                </a:solidFill>
                <a:latin typeface="Arial"/>
              </a:rPr>
              <a:t>One continuous reference motion, no state machine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6382512"/>
            <a:ext cx="82933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SURF 2026  ·  Baaqer Farhat  ·  Caltech ARCL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86C1"/>
                </a:solidFill>
                <a:latin typeface="Arial"/>
              </a:rPr>
              <a:t>BEHAVIOR 1  · 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2240"/>
                </a:solidFill>
                <a:latin typeface="Arial"/>
              </a:rPr>
              <a:t>Most of the work was finding out why it did not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29284"/>
            <a:ext cx="1298448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252728"/>
            <a:ext cx="11057839" cy="566928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38074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86C1"/>
                </a:solidFill>
                <a:latin typeface="Arial"/>
              </a:rPr>
              <a:t>v8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5296" y="1362456"/>
            <a:ext cx="2395728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Arial"/>
              </a:rPr>
              <a:t>Forgot the walk-up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30752" y="1362456"/>
            <a:ext cx="471830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670"/>
                </a:solidFill>
                <a:latin typeface="Arial"/>
              </a:rPr>
              <a:t>Sampler mixed raw failure counts, so the uniform term was a no-op.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362456"/>
            <a:ext cx="2974543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8449"/>
                </a:solidFill>
                <a:latin typeface="Arial"/>
              </a:rPr>
              <a:t>Mix normalized probabilities.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947672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86C1"/>
                </a:solidFill>
                <a:latin typeface="Arial"/>
              </a:rPr>
              <a:t>v10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1929384"/>
            <a:ext cx="2395728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Arial"/>
              </a:rPr>
              <a:t>Pantomimed the lift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1929384"/>
            <a:ext cx="471830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670"/>
                </a:solidFill>
                <a:latin typeface="Arial"/>
              </a:rPr>
              <a:t>A mean over hands let one palm mask the other hovering away.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929384"/>
            <a:ext cx="2974543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8449"/>
                </a:solidFill>
                <a:latin typeface="Arial"/>
              </a:rPr>
              <a:t>Grasp reward as a product over both hands.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86584"/>
            <a:ext cx="11057839" cy="566928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514600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86C1"/>
                </a:solidFill>
                <a:latin typeface="Arial"/>
              </a:rPr>
              <a:t>v13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2496312"/>
            <a:ext cx="2395728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Arial"/>
              </a:rPr>
              <a:t>Frozen hip, impossible waist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2496312"/>
            <a:ext cx="471830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670"/>
                </a:solidFill>
                <a:latin typeface="Arial"/>
              </a:rPr>
              <a:t>Off-by-one in the retargeter clamped every joint to the previous joint's limits.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496312"/>
            <a:ext cx="2974543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8449"/>
                </a:solidFill>
                <a:latin typeface="Arial"/>
              </a:rPr>
              <a:t>Index limits by joint type, retrain.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3081528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86C1"/>
                </a:solidFill>
                <a:latin typeface="Arial"/>
              </a:rPr>
              <a:t>v24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6" y="3063240"/>
            <a:ext cx="2395728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Arial"/>
              </a:rPr>
              <a:t>Crab-walked the carry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0752" y="3063240"/>
            <a:ext cx="471830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670"/>
                </a:solidFill>
                <a:latin typeface="Arial"/>
              </a:rPr>
              <a:t>The demonstrator turned 65 degrees and shuffled his feet 30 cm.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063240"/>
            <a:ext cx="2974543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8449"/>
                </a:solidFill>
                <a:latin typeface="Arial"/>
              </a:rPr>
              <a:t>Straighten the carry, pin the feet.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6210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52240"/>
                </a:solidFill>
                <a:latin typeface="Arial"/>
              </a:rPr>
              <a:t>Then hardware found what simulation could not.  </a:t>
            </a:r>
            <a:r>
              <a:rPr sz="1250" b="0" i="0">
                <a:solidFill>
                  <a:srgbClr val="5C6670"/>
                </a:solidFill>
                <a:latin typeface="Arial"/>
              </a:rPr>
              <a:t>A foot on its edge still reports contact force, and a tilted stationary foot has zero slip.</a:t>
            </a:r>
          </a:p>
        </p:txBody>
      </p:sp>
      <p:pic>
        <p:nvPicPr>
          <p:cNvPr id="24" name="Picture 23" descr="fig_fo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968496"/>
            <a:ext cx="11057839" cy="226183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66928" y="6382512"/>
            <a:ext cx="82933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SURF 2026  ·  Baaqer Farhat  ·  Caltech ARCL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86C1"/>
                </a:solidFill>
                <a:latin typeface="Arial"/>
              </a:rPr>
              <a:t>BEHAVIOR 1  ·  SIM TO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2240"/>
                </a:solidFill>
                <a:latin typeface="Arial"/>
              </a:rPr>
              <a:t>The hardware logs pointed at a single joint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29284"/>
            <a:ext cx="1298448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52240"/>
                </a:solidFill>
                <a:latin typeface="Arial"/>
              </a:rPr>
              <a:t>Version 31 was the best policy in simulation and it fell on the robot, 13 of 15 runs, always at the same point in the motion.</a:t>
            </a:r>
          </a:p>
        </p:txBody>
      </p:sp>
      <p:pic>
        <p:nvPicPr>
          <p:cNvPr id="6" name="Picture 5" descr="fig_joint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2496"/>
            <a:ext cx="11057839" cy="297189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4791456"/>
            <a:ext cx="3515258" cy="1298448"/>
          </a:xfrm>
          <a:prstGeom prst="roundRect">
            <a:avLst>
              <a:gd name="adj" fmla="val 6000"/>
            </a:avLst>
          </a:prstGeom>
          <a:solidFill>
            <a:srgbClr val="FBEBE9"/>
          </a:solidFill>
          <a:ln w="1651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4919472"/>
            <a:ext cx="311292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0392B"/>
                </a:solidFill>
                <a:latin typeface="Arial"/>
              </a:rPr>
              <a:t>SYMPTOM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212080"/>
            <a:ext cx="3112922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52240"/>
                </a:solidFill>
                <a:latin typeface="Arial"/>
              </a:rPr>
              <a:t>Torso pitched forward and collapsed at t ≈ 8.2 s, entering the carry. Leg tracking error stayed near 5° throughout.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4791456"/>
            <a:ext cx="3515258" cy="1298448"/>
          </a:xfrm>
          <a:prstGeom prst="roundRect">
            <a:avLst>
              <a:gd name="adj" fmla="val 6000"/>
            </a:avLst>
          </a:prstGeom>
          <a:solidFill>
            <a:srgbClr val="FBF1E3"/>
          </a:solidFill>
          <a:ln w="16510">
            <a:solidFill>
              <a:srgbClr val="B9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9386" y="4919472"/>
            <a:ext cx="311292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9770E"/>
                </a:solidFill>
                <a:latin typeface="Arial"/>
              </a:rPr>
              <a:t>CAUSE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9386" y="5212080"/>
            <a:ext cx="3112922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52240"/>
                </a:solidFill>
                <a:latin typeface="Arial"/>
              </a:rPr>
              <a:t>The actor drove the waist pitch command to −131° while the reference clip asks for at most +18°. Nothing in the reward priced the waist.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9509" y="4791456"/>
            <a:ext cx="3515258" cy="1298448"/>
          </a:xfrm>
          <a:prstGeom prst="roundRect">
            <a:avLst>
              <a:gd name="adj" fmla="val 6000"/>
            </a:avLst>
          </a:prstGeom>
          <a:solidFill>
            <a:srgbClr val="EAF5EC"/>
          </a:solidFill>
          <a:ln w="16510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677" y="4919472"/>
            <a:ext cx="311292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8449"/>
                </a:solidFill>
                <a:latin typeface="Arial"/>
              </a:rPr>
              <a:t>FIX, V33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0677" y="5212080"/>
            <a:ext cx="3112922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52240"/>
                </a:solidFill>
                <a:latin typeface="Arial"/>
              </a:rPr>
              <a:t>Waist pitch and yaw tracking terms, exponential plus L2. Command back inside the clip and hardware waist error 13.1° to 3.3°.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82512"/>
            <a:ext cx="82933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SURF 2026  ·  Baaqer Farhat  ·  Caltech ARCL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86C1"/>
                </a:solidFill>
                <a:latin typeface="Arial"/>
              </a:rPr>
              <a:t>BEHAVIOR 2  ·  LOCOMOTION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2240"/>
                </a:solidFill>
                <a:latin typeface="Arial"/>
              </a:rPr>
              <a:t>Crawling: a prone gait needs its own reward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29284"/>
            <a:ext cx="1298448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672084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52240"/>
                </a:solidFill>
                <a:latin typeface="Arial"/>
              </a:rPr>
              <a:t>A whole-body prone crawl up a slope, retargeted from a CMU motion capture clip and trained in the same holosoma stack. The robot moves on palms, knees and feet.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71232" y="1243584"/>
            <a:ext cx="4053535" cy="914400"/>
          </a:xfrm>
          <a:prstGeom prst="roundRect">
            <a:avLst>
              <a:gd name="adj" fmla="val 10000"/>
            </a:avLst>
          </a:prstGeom>
          <a:solidFill>
            <a:srgbClr val="FBF1E3"/>
          </a:solidFill>
          <a:ln w="16510">
            <a:solidFill>
              <a:srgbClr val="B9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35824" y="1243584"/>
            <a:ext cx="3724351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9770E"/>
                </a:solidFill>
                <a:latin typeface="Arial"/>
              </a:rPr>
              <a:t>The upright reward suite is hostile to crawling. </a:t>
            </a:r>
            <a:r>
              <a:rPr sz="1050" b="0" i="0">
                <a:solidFill>
                  <a:srgbClr val="B9770E"/>
                </a:solidFill>
                <a:latin typeface="Arial"/>
              </a:rPr>
              <a:t>Foot slip penalizes the limb sliding a crawl needs, and contact loss demands both feet stay loaded. The task needs its own reward, contact and observation set.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194560"/>
            <a:ext cx="3503066" cy="3108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2194560"/>
            <a:ext cx="324703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VIDEO 1   </a:t>
            </a:r>
            <a:r>
              <a:rPr sz="1050" b="0" i="0">
                <a:solidFill>
                  <a:srgbClr val="FFFFFF"/>
                </a:solidFill>
                <a:latin typeface="Arial"/>
              </a:rPr>
              <a:t>Early  ·  v2, iter 14500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505456"/>
            <a:ext cx="3503066" cy="1970475"/>
          </a:xfrm>
          <a:prstGeom prst="rect">
            <a:avLst/>
          </a:prstGeom>
          <a:solidFill>
            <a:srgbClr val="111418"/>
          </a:solidFill>
          <a:ln w="1587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pic>
        <p:nvPicPr>
          <p:cNvPr id="11" name="Picture 10" descr="crawl1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505456"/>
            <a:ext cx="3503066" cy="197047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66928" y="2505456"/>
            <a:ext cx="3503066" cy="1970475"/>
          </a:xfrm>
          <a:prstGeom prst="rect">
            <a:avLst/>
          </a:prstGeom>
          <a:noFill/>
          <a:ln w="1587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117293" y="3289525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 rot="5400000">
            <a:off x="2237994" y="3390109"/>
            <a:ext cx="144841" cy="201168"/>
          </a:xfrm>
          <a:prstGeom prst="triangl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567371"/>
            <a:ext cx="350306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52240"/>
                </a:solidFill>
                <a:latin typeface="Arial"/>
              </a:rPr>
              <a:t>Crawls for the first time. Tracking is loose and the robot drifts off the slope.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850" b="0" i="0">
                <a:solidFill>
                  <a:srgbClr val="5C6670"/>
                </a:solidFill>
                <a:latin typeface="Consolas"/>
              </a:rPr>
              <a:t>x2_crawl_slope_v2_palmflat_iter14500.mp4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4314" y="2194560"/>
            <a:ext cx="3503066" cy="3108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2330" y="2194560"/>
            <a:ext cx="324703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VIDEO 2   </a:t>
            </a:r>
            <a:r>
              <a:rPr sz="1050" b="0" i="0">
                <a:solidFill>
                  <a:srgbClr val="FFFFFF"/>
                </a:solidFill>
                <a:latin typeface="Arial"/>
              </a:rPr>
              <a:t>Intermediate  ·  v3, iter 49999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4314" y="2505456"/>
            <a:ext cx="3503066" cy="1970475"/>
          </a:xfrm>
          <a:prstGeom prst="rect">
            <a:avLst/>
          </a:prstGeom>
          <a:solidFill>
            <a:srgbClr val="111418"/>
          </a:solidFill>
          <a:ln w="1587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pic>
        <p:nvPicPr>
          <p:cNvPr id="19" name="Picture 18" descr="crawl2_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314" y="2505456"/>
            <a:ext cx="3503066" cy="1970475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344314" y="2505456"/>
            <a:ext cx="3503066" cy="1970475"/>
          </a:xfrm>
          <a:prstGeom prst="rect">
            <a:avLst/>
          </a:prstGeom>
          <a:noFill/>
          <a:ln w="1587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94680" y="3289525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5400000">
            <a:off x="6015380" y="3390109"/>
            <a:ext cx="144841" cy="201168"/>
          </a:xfrm>
          <a:prstGeom prst="triangl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4314" y="4567371"/>
            <a:ext cx="350306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52240"/>
                </a:solidFill>
                <a:latin typeface="Arial"/>
              </a:rPr>
              <a:t>Retuned tracking weights. This checkpoint was exported and run on the physical X2.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850" b="0" i="0">
                <a:solidFill>
                  <a:srgbClr val="5C6670"/>
                </a:solidFill>
                <a:latin typeface="Consolas"/>
              </a:rPr>
              <a:t>x2_crawl_slope_v3_tracking_iter49999.mp4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21701" y="2194560"/>
            <a:ext cx="3503066" cy="310896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9717" y="2194560"/>
            <a:ext cx="324703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VIDEO 3   </a:t>
            </a:r>
            <a:r>
              <a:rPr sz="1050" b="0" i="0">
                <a:solidFill>
                  <a:srgbClr val="FFFFFF"/>
                </a:solidFill>
                <a:latin typeface="Arial"/>
              </a:rPr>
              <a:t>Current  ·  v5, iter 86000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21701" y="2505456"/>
            <a:ext cx="3503066" cy="1970475"/>
          </a:xfrm>
          <a:prstGeom prst="rect">
            <a:avLst/>
          </a:prstGeom>
          <a:solidFill>
            <a:srgbClr val="111418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pic>
        <p:nvPicPr>
          <p:cNvPr id="27" name="Picture 26" descr="crawl3_v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1701" y="2505456"/>
            <a:ext cx="3503066" cy="1970475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8121701" y="2505456"/>
            <a:ext cx="3503066" cy="1970475"/>
          </a:xfrm>
          <a:prstGeom prst="rect">
            <a:avLst/>
          </a:prstGeom>
          <a:noFill/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72066" y="3289525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5400000">
            <a:off x="9792767" y="3390109"/>
            <a:ext cx="144841" cy="201168"/>
          </a:xfrm>
          <a:prstGeom prst="triangle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21701" y="4567371"/>
            <a:ext cx="3503066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52240"/>
                </a:solidFill>
                <a:latin typeface="Arial"/>
              </a:rPr>
              <a:t>Position weight raised to 3.0. Mean episode 7.6 s, the best climb so far in simulation.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850" b="0" i="0">
                <a:solidFill>
                  <a:srgbClr val="5C6670"/>
                </a:solidFill>
                <a:latin typeface="Consolas"/>
              </a:rPr>
              <a:t>x2_crawl_slope_v5_track_xyz_iter86000.mp4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541264"/>
            <a:ext cx="1105783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C5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5541264"/>
            <a:ext cx="10655503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2240"/>
                </a:solidFill>
                <a:latin typeface="Arial"/>
              </a:rPr>
              <a:t>Honest limitations.</a:t>
            </a:r>
            <a:r>
              <a:rPr sz="1200" b="0" i="0">
                <a:solidFill>
                  <a:srgbClr val="152240"/>
                </a:solidFill>
                <a:latin typeface="Arial"/>
              </a:rPr>
              <a:t>  v4 over-smoothed the gait until it could not generate thrust, and v6 multi-clip stand-up training regressed the climb from 24.9 to 16.2 mean reward. Best episode is still 7.6 s of a 19 s clip.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382512"/>
            <a:ext cx="82933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SURF 2026  ·  Baaqer Farhat  ·  Caltech ARCL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86C1"/>
                </a:solidFill>
                <a:latin typeface="Arial"/>
              </a:rPr>
              <a:t>TRANSITION  ·  WHY ADAPTATION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2240"/>
                </a:solidFill>
                <a:latin typeface="Arial"/>
              </a:rPr>
              <a:t>A good policy is still a fixed policy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29284"/>
            <a:ext cx="1298448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52240"/>
                </a:solidFill>
                <a:latin typeface="Arial"/>
              </a:rPr>
              <a:t>To test that, the right knee actuator is scaled to 30% of nominal PD stiffness. It still moves, but it sags under 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84832"/>
            <a:ext cx="2476424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320">
            <a:solidFill>
              <a:srgbClr val="C5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21472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52240"/>
                </a:solidFill>
                <a:latin typeface="Arial"/>
              </a:rPr>
              <a:t>Nominal robot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98064"/>
            <a:ext cx="2110664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52240"/>
                </a:solidFill>
                <a:latin typeface="Arial"/>
              </a:rPr>
              <a:t>The frozen policy completes the pickup on all six seeds.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3529584"/>
            <a:ext cx="222039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52240"/>
                </a:solidFill>
                <a:latin typeface="Arial"/>
              </a:rPr>
              <a:t>14.68 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7400" y="2084832"/>
            <a:ext cx="2476424" cy="2011680"/>
          </a:xfrm>
          <a:prstGeom prst="roundRect">
            <a:avLst>
              <a:gd name="adj" fmla="val 7000"/>
            </a:avLst>
          </a:prstGeom>
          <a:solidFill>
            <a:srgbClr val="FBF1E3"/>
          </a:solidFill>
          <a:ln w="20320">
            <a:solidFill>
              <a:srgbClr val="B9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1992" y="2304288"/>
            <a:ext cx="21472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9770E"/>
                </a:solidFill>
                <a:latin typeface="Arial"/>
              </a:rPr>
              <a:t>Actuator 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0280" y="2798064"/>
            <a:ext cx="2110664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52240"/>
                </a:solidFill>
                <a:latin typeface="Arial"/>
              </a:rPr>
              <a:t>Right knee drops to 30% of nominal PD stiffness.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5416" y="3529584"/>
            <a:ext cx="222039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9770E"/>
                </a:solidFill>
                <a:latin typeface="Arial"/>
              </a:rPr>
              <a:t>not announced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7872" y="2084832"/>
            <a:ext cx="2476424" cy="2011680"/>
          </a:xfrm>
          <a:prstGeom prst="roundRect">
            <a:avLst>
              <a:gd name="adj" fmla="val 7000"/>
            </a:avLst>
          </a:prstGeom>
          <a:solidFill>
            <a:srgbClr val="FBEBE9"/>
          </a:solidFill>
          <a:ln w="2032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2464" y="2304288"/>
            <a:ext cx="21472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0392B"/>
                </a:solidFill>
                <a:latin typeface="Arial"/>
              </a:rPr>
              <a:t>Frozen 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0752" y="2798064"/>
            <a:ext cx="2110664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52240"/>
                </a:solidFill>
                <a:latin typeface="Arial"/>
              </a:rPr>
              <a:t>Sags under the payload, loses the set-down, falls early.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8" y="3529584"/>
            <a:ext cx="222039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C0392B"/>
                </a:solidFill>
                <a:latin typeface="Arial"/>
              </a:rPr>
              <a:t>7.43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8343" y="2084832"/>
            <a:ext cx="2476424" cy="2011680"/>
          </a:xfrm>
          <a:prstGeom prst="roundRect">
            <a:avLst>
              <a:gd name="adj" fmla="val 7000"/>
            </a:avLst>
          </a:prstGeom>
          <a:solidFill>
            <a:srgbClr val="EAF5EC"/>
          </a:solidFill>
          <a:ln w="20320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12935" y="2304288"/>
            <a:ext cx="21472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8449"/>
                </a:solidFill>
                <a:latin typeface="Arial"/>
              </a:rPr>
              <a:t>Adapted policy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1223" y="2798064"/>
            <a:ext cx="2110664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52240"/>
                </a:solidFill>
                <a:latin typeface="Arial"/>
              </a:rPr>
              <a:t>Recovers the set-down on all six seeds.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6359" y="3529584"/>
            <a:ext cx="222039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E8449"/>
                </a:solidFill>
                <a:latin typeface="Arial"/>
              </a:rPr>
              <a:t>11.36 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089072" y="3090672"/>
            <a:ext cx="292608" cy="0"/>
          </a:xfrm>
          <a:prstGeom prst="line">
            <a:avLst/>
          </a:prstGeom>
          <a:ln w="25400">
            <a:solidFill>
              <a:srgbClr val="1522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949544" y="3090672"/>
            <a:ext cx="292608" cy="0"/>
          </a:xfrm>
          <a:prstGeom prst="line">
            <a:avLst/>
          </a:prstGeom>
          <a:ln w="25400">
            <a:solidFill>
              <a:srgbClr val="1522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810015" y="3090672"/>
            <a:ext cx="292608" cy="0"/>
          </a:xfrm>
          <a:prstGeom prst="line">
            <a:avLst/>
          </a:prstGeom>
          <a:ln w="25400">
            <a:solidFill>
              <a:srgbClr val="1522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66928" y="4498848"/>
            <a:ext cx="11057839" cy="512064"/>
          </a:xfrm>
          <a:prstGeom prst="roundRect">
            <a:avLst>
              <a:gd name="adj" fmla="val 100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498848"/>
            <a:ext cx="10655503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52240"/>
                </a:solidFill>
                <a:latin typeface="Arial"/>
              </a:rPr>
              <a:t>The fault is never announced.</a:t>
            </a:r>
            <a:r>
              <a:rPr sz="1350" b="0" i="0">
                <a:solidFill>
                  <a:srgbClr val="152240"/>
                </a:solidFill>
                <a:latin typeface="Arial"/>
              </a:rPr>
              <a:t>  Neither the policy nor the adapter is told that a fault occurred. Both keep using the nominal gains. There is no detector and no trigger.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266944"/>
            <a:ext cx="11057839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5C6670"/>
                </a:solidFill>
                <a:latin typeface="Arial"/>
              </a:rPr>
              <a:t>This is the regime the method is actually for. The same adaptation applied to a healthy robot spends balance margin the task needed and makes things worse. That measurement is in backup.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382512"/>
            <a:ext cx="82933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SURF 2026  ·  Baaqer Farhat  ·  Caltech ARCL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86C1"/>
                </a:solidFill>
                <a:latin typeface="Arial"/>
              </a:rPr>
              <a:t>ADAPTATION  · 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2240"/>
                </a:solidFill>
                <a:latin typeface="Arial"/>
              </a:rPr>
              <a:t>Adapt one layer, online, from tracking error alone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29284"/>
            <a:ext cx="1298448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670"/>
                </a:solidFill>
                <a:latin typeface="Arial"/>
              </a:rPr>
              <a:t>Ported from </a:t>
            </a:r>
            <a:r>
              <a:rPr sz="1250" b="0" i="0">
                <a:solidFill>
                  <a:srgbClr val="152240"/>
                </a:solidFill>
                <a:latin typeface="Arial"/>
              </a:rPr>
              <a:t>Taheri, Chung and Hadaegh, ACC 2026, </a:t>
            </a:r>
            <a:r>
              <a:rPr sz="1250" b="0" i="1">
                <a:solidFill>
                  <a:srgbClr val="5C6670"/>
                </a:solidFill>
                <a:latin typeface="Arial"/>
              </a:rPr>
              <a:t>“Closing the Loop Inside Neural Networks: Causality-Guided Layer Adaptation for Fault Recovery Control”</a:t>
            </a:r>
            <a:r>
              <a:rPr sz="1250" b="0" i="0">
                <a:solidFill>
                  <a:srgbClr val="5C6670"/>
                </a:solidFill>
                <a:latin typeface="Arial"/>
              </a:rPr>
              <a:t>  —  moved from its MuJoCo testbed into our IsaacLab environment on the v31 policy.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231136"/>
            <a:ext cx="1700784" cy="786384"/>
          </a:xfrm>
          <a:prstGeom prst="roundRect">
            <a:avLst>
              <a:gd name="adj" fmla="val 10000"/>
            </a:avLst>
          </a:prstGeom>
          <a:solidFill>
            <a:srgbClr val="EFF3F7"/>
          </a:solidFill>
          <a:ln w="15240">
            <a:solidFill>
              <a:srgbClr val="C5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4086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52240"/>
                </a:solidFill>
                <a:latin typeface="Arial"/>
              </a:rPr>
              <a:t>W₀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0"/>
                </a:solidFill>
                <a:latin typeface="Arial"/>
              </a:rPr>
              <a:t>164 → 512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2" y="2231136"/>
            <a:ext cx="1700784" cy="786384"/>
          </a:xfrm>
          <a:prstGeom prst="roundRect">
            <a:avLst>
              <a:gd name="adj" fmla="val 10000"/>
            </a:avLst>
          </a:prstGeom>
          <a:solidFill>
            <a:srgbClr val="EFF3F7"/>
          </a:solidFill>
          <a:ln w="15240">
            <a:solidFill>
              <a:srgbClr val="C5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0944" y="234086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52240"/>
                </a:solidFill>
                <a:latin typeface="Arial"/>
              </a:rPr>
              <a:t>W₁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2651760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0"/>
                </a:solidFill>
                <a:latin typeface="Arial"/>
              </a:rPr>
              <a:t>512 → 256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74336" y="2231136"/>
            <a:ext cx="1700784" cy="786384"/>
          </a:xfrm>
          <a:prstGeom prst="roundRect">
            <a:avLst>
              <a:gd name="adj" fmla="val 10000"/>
            </a:avLst>
          </a:prstGeom>
          <a:solidFill>
            <a:srgbClr val="EAF5EC"/>
          </a:solidFill>
          <a:ln w="27940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7488" y="234086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8449"/>
                </a:solidFill>
                <a:latin typeface="Arial"/>
              </a:rPr>
              <a:t>W₂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7488" y="2651760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8449"/>
                </a:solidFill>
                <a:latin typeface="Arial"/>
              </a:rPr>
              <a:t>256 → 128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2231136"/>
            <a:ext cx="1700784" cy="786384"/>
          </a:xfrm>
          <a:prstGeom prst="roundRect">
            <a:avLst>
              <a:gd name="adj" fmla="val 10000"/>
            </a:avLst>
          </a:prstGeom>
          <a:solidFill>
            <a:srgbClr val="EFF3F7"/>
          </a:solidFill>
          <a:ln w="15240">
            <a:solidFill>
              <a:srgbClr val="C5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4032" y="234086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52240"/>
                </a:solidFill>
                <a:latin typeface="Arial"/>
              </a:rPr>
              <a:t>W₃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2651760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670"/>
                </a:solidFill>
                <a:latin typeface="Arial"/>
              </a:rPr>
              <a:t>128 → 31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542032" y="2624328"/>
            <a:ext cx="365760" cy="0"/>
          </a:xfrm>
          <a:prstGeom prst="line">
            <a:avLst/>
          </a:prstGeom>
          <a:ln w="19050">
            <a:solidFill>
              <a:srgbClr val="C5CD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08576" y="2624328"/>
            <a:ext cx="365760" cy="0"/>
          </a:xfrm>
          <a:prstGeom prst="line">
            <a:avLst/>
          </a:prstGeom>
          <a:ln w="19050">
            <a:solidFill>
              <a:srgbClr val="C5CD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675120" y="2624328"/>
            <a:ext cx="365760" cy="0"/>
          </a:xfrm>
          <a:prstGeom prst="line">
            <a:avLst/>
          </a:prstGeom>
          <a:ln w="19050">
            <a:solidFill>
              <a:srgbClr val="C5CD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92608" y="2395728"/>
            <a:ext cx="53035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0"/>
                </a:solidFill>
                <a:latin typeface="Arial"/>
              </a:rPr>
              <a:t>obs
164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21792" y="2624328"/>
            <a:ext cx="219456" cy="0"/>
          </a:xfrm>
          <a:prstGeom prst="line">
            <a:avLst/>
          </a:prstGeom>
          <a:ln w="19050">
            <a:solidFill>
              <a:srgbClr val="C5CD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741664" y="2624328"/>
            <a:ext cx="402336" cy="0"/>
          </a:xfrm>
          <a:prstGeom prst="line">
            <a:avLst/>
          </a:prstGeom>
          <a:ln w="19050">
            <a:solidFill>
              <a:srgbClr val="C5CD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833104" y="2395728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0"/>
                </a:solidFill>
                <a:latin typeface="Arial"/>
              </a:rPr>
              <a:t>31 joint
targets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1956816"/>
            <a:ext cx="17007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C6670"/>
                </a:solidFill>
                <a:latin typeface="Arial"/>
              </a:rPr>
              <a:t>FROZEN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07792" y="1956816"/>
            <a:ext cx="17007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C6670"/>
                </a:solidFill>
                <a:latin typeface="Arial"/>
              </a:rPr>
              <a:t>FROZEN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1956816"/>
            <a:ext cx="17007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C6670"/>
                </a:solidFill>
                <a:latin typeface="Arial"/>
              </a:rPr>
              <a:t>FROZEN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3088" y="1956816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E8449"/>
                </a:solidFill>
                <a:latin typeface="Arial"/>
              </a:rPr>
              <a:t>ADAPTED  ·  32,768 of 251,776 weights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07792" y="3474720"/>
            <a:ext cx="5833872" cy="493776"/>
          </a:xfrm>
          <a:prstGeom prst="roundRect">
            <a:avLst>
              <a:gd name="adj" fmla="val 10000"/>
            </a:avLst>
          </a:prstGeom>
          <a:solidFill>
            <a:srgbClr val="EAF5EC"/>
          </a:solidFill>
          <a:ln w="19050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3474720"/>
            <a:ext cx="5541264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8449"/>
                </a:solidFill>
                <a:latin typeface="Arial"/>
              </a:rPr>
              <a:t>e = q − q</a:t>
            </a:r>
            <a:r>
              <a:rPr sz="900" b="1" i="0">
                <a:solidFill>
                  <a:srgbClr val="1E8449"/>
                </a:solidFill>
                <a:latin typeface="Arial"/>
              </a:rPr>
              <a:t>ref</a:t>
            </a:r>
            <a:r>
              <a:rPr sz="1150" b="0" i="0">
                <a:solidFill>
                  <a:srgbClr val="1E8449"/>
                </a:solidFill>
                <a:latin typeface="Arial"/>
              </a:rPr>
              <a:t>     joint tracking error, measured every 20 ms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76311" y="3017520"/>
            <a:ext cx="0" cy="704088"/>
          </a:xfrm>
          <a:prstGeom prst="line">
            <a:avLst/>
          </a:prstGeom>
          <a:ln w="20320">
            <a:solidFill>
              <a:srgbClr val="1E84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976311" y="3721608"/>
            <a:ext cx="765353" cy="0"/>
          </a:xfrm>
          <a:prstGeom prst="line">
            <a:avLst/>
          </a:prstGeom>
          <a:ln w="20320">
            <a:solidFill>
              <a:srgbClr val="1E84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5824728" y="3017520"/>
            <a:ext cx="0" cy="457200"/>
          </a:xfrm>
          <a:prstGeom prst="line">
            <a:avLst/>
          </a:prstGeom>
          <a:ln w="20320">
            <a:solidFill>
              <a:srgbClr val="1E84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33" descr="eq_up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4315968"/>
            <a:ext cx="3108960" cy="39738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41248" y="48280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Lyapunov update, leakage toward the trained weights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26864" y="4224528"/>
            <a:ext cx="6997903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C1"/>
                </a:solidFill>
                <a:latin typeface="Arial"/>
              </a:rPr>
              <a:t>Adapted   </a:t>
            </a:r>
            <a:r>
              <a:rPr sz="1100" b="0" i="0">
                <a:solidFill>
                  <a:srgbClr val="152240"/>
                </a:solidFill>
                <a:latin typeface="Arial"/>
              </a:rPr>
              <a:t>one weight matrix, 13% of the network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26864" y="4503420"/>
            <a:ext cx="6997903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C1"/>
                </a:solidFill>
                <a:latin typeface="Arial"/>
              </a:rPr>
              <a:t>Frozen   </a:t>
            </a:r>
            <a:r>
              <a:rPr sz="1100" b="0" i="0">
                <a:solidFill>
                  <a:srgbClr val="152240"/>
                </a:solidFill>
                <a:latin typeface="Arial"/>
              </a:rPr>
              <a:t>every other layer, the reward, the reference clip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26864" y="4782312"/>
            <a:ext cx="6997903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C1"/>
                </a:solidFill>
                <a:latin typeface="Arial"/>
              </a:rPr>
              <a:t>Needs   </a:t>
            </a:r>
            <a:r>
              <a:rPr sz="1100" b="0" i="0">
                <a:solidFill>
                  <a:srgbClr val="152240"/>
                </a:solidFill>
                <a:latin typeface="Arial"/>
              </a:rPr>
              <a:t>no plant model, no fault detector, no offline phase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26864" y="5061204"/>
            <a:ext cx="6997903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C1"/>
                </a:solidFill>
                <a:latin typeface="Arial"/>
              </a:rPr>
              <a:t>Cost   </a:t>
            </a:r>
            <a:r>
              <a:rPr sz="1100" b="0" i="0">
                <a:solidFill>
                  <a:srgbClr val="152240"/>
                </a:solidFill>
                <a:latin typeface="Arial"/>
              </a:rPr>
              <a:t>1.93 ms forward + 3.31 ms update = 26% of the 20 ms budget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26864" y="5340096"/>
            <a:ext cx="6997903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C1"/>
                </a:solidFill>
                <a:latin typeface="Arial"/>
              </a:rPr>
              <a:t>Mask   </a:t>
            </a:r>
            <a:r>
              <a:rPr sz="1100" b="0" i="0">
                <a:solidFill>
                  <a:srgbClr val="152240"/>
                </a:solidFill>
                <a:latin typeface="Arial"/>
              </a:rPr>
              <a:t>which joints enter e. Waist only, against the paper's hips, knees, ankles and waist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26864" y="5618988"/>
            <a:ext cx="6997903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C1"/>
                </a:solidFill>
                <a:latin typeface="Arial"/>
              </a:rPr>
              <a:t>Safety   </a:t>
            </a:r>
            <a:r>
              <a:rPr sz="1100" b="0" i="0">
                <a:solidFill>
                  <a:srgbClr val="152240"/>
                </a:solidFill>
                <a:latin typeface="Arial"/>
              </a:rPr>
              <a:t>resets to W₀ every episode; a norm bound trips a hard revert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5760720"/>
            <a:ext cx="11057839" cy="475488"/>
          </a:xfrm>
          <a:prstGeom prst="roundRect">
            <a:avLst>
              <a:gd name="adj" fmla="val 10000"/>
            </a:avLst>
          </a:prstGeom>
          <a:solidFill>
            <a:srgbClr val="FBEBE9"/>
          </a:solidFill>
          <a:ln w="1651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760720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52240"/>
                </a:solidFill>
                <a:latin typeface="Arial"/>
              </a:rPr>
              <a:t>Defect found and fixed:</a:t>
            </a:r>
            <a:r>
              <a:rPr sz="1150" b="0" i="0">
                <a:solidFill>
                  <a:srgbClr val="152240"/>
                </a:solidFill>
                <a:latin typeface="Arial"/>
              </a:rPr>
              <a:t>  the shipped leak pulls the layer toward the origin rather than the trained weights, eroding 13.7% of its norm per episode even with perfect tracking. Fixing it does not change the outcome, but it is a real bug.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6382512"/>
            <a:ext cx="82933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SURF 2026  ·  Baaqer Farhat  ·  Caltech ARCL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E8449"/>
                </a:solidFill>
                <a:latin typeface="Arial"/>
              </a:rPr>
              <a:t>ADAPTATION  ·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2240"/>
                </a:solidFill>
                <a:latin typeface="Arial"/>
              </a:rPr>
              <a:t>Under the fault, adaptation recovers the task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29284"/>
            <a:ext cx="1298448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pic>
        <p:nvPicPr>
          <p:cNvPr id="5" name="Picture 4" descr="fig_faul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338749"/>
            <a:ext cx="5760720" cy="388789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37376" y="1371600"/>
            <a:ext cx="5187391" cy="329184"/>
          </a:xfrm>
          <a:prstGeom prst="rect">
            <a:avLst/>
          </a:prstGeom>
          <a:solidFill>
            <a:srgbClr val="15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21579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95360" y="1371600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Survival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1371600"/>
            <a:ext cx="841248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Set-down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1371600"/>
            <a:ext cx="813816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Lifted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37376" y="1700784"/>
            <a:ext cx="5187391" cy="512064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00784"/>
            <a:ext cx="2157984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52240"/>
                </a:solidFill>
                <a:latin typeface="Arial"/>
              </a:rPr>
              <a:t>Frozen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700784"/>
            <a:ext cx="137160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Arial"/>
              </a:rPr>
              <a:t>7.43 ± 2.76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1700784"/>
            <a:ext cx="841248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Arial"/>
              </a:rPr>
              <a:t>4 /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8208" y="1700784"/>
            <a:ext cx="813816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Arial"/>
              </a:rPr>
              <a:t>5 / 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37376" y="2212848"/>
            <a:ext cx="5187391" cy="512064"/>
          </a:xfrm>
          <a:prstGeom prst="rect">
            <a:avLst/>
          </a:prstGeom>
          <a:solidFill>
            <a:srgbClr val="E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212848"/>
            <a:ext cx="2157984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52240"/>
                </a:solidFill>
                <a:latin typeface="Arial"/>
              </a:rPr>
              <a:t>Waist-only adaptation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212848"/>
            <a:ext cx="137160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8449"/>
                </a:solidFill>
                <a:latin typeface="Arial"/>
              </a:rPr>
              <a:t>11.36 ± 0.42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2212848"/>
            <a:ext cx="841248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8449"/>
                </a:solidFill>
                <a:latin typeface="Arial"/>
              </a:rPr>
              <a:t>6 /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8208" y="2212848"/>
            <a:ext cx="813816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8449"/>
                </a:solidFill>
                <a:latin typeface="Arial"/>
              </a:rPr>
              <a:t>6 / 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37376" y="1371600"/>
            <a:ext cx="5187391" cy="1353312"/>
          </a:xfrm>
          <a:prstGeom prst="rect">
            <a:avLst/>
          </a:prstGeom>
          <a:noFill/>
          <a:ln w="13970">
            <a:solidFill>
              <a:srgbClr val="C5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6" y="2816352"/>
            <a:ext cx="518739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6 seeds  ·  no domain randomization  ·  observation noise off  ·  v31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3145536"/>
            <a:ext cx="5187391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8449"/>
                </a:solidFill>
                <a:latin typeface="Arial"/>
              </a:rPr>
              <a:t>•  </a:t>
            </a:r>
            <a:r>
              <a:rPr sz="1200" b="1" i="0">
                <a:solidFill>
                  <a:srgbClr val="152240"/>
                </a:solidFill>
                <a:latin typeface="Arial"/>
              </a:rPr>
              <a:t>Complete separation.</a:t>
            </a:r>
            <a:r>
              <a:rPr sz="1200" b="0" i="0">
                <a:solidFill>
                  <a:srgbClr val="152240"/>
                </a:solidFill>
                <a:latin typeface="Arial"/>
              </a:rPr>
              <a:t> Every adapted seed outlasts every frozen seed. Exact one-sided Mann-Whitney p = 0.0011, the floor for six against six.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3767328"/>
            <a:ext cx="5187391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8449"/>
                </a:solidFill>
                <a:latin typeface="Arial"/>
              </a:rPr>
              <a:t>•  </a:t>
            </a:r>
            <a:r>
              <a:rPr sz="1200" b="1" i="0">
                <a:solidFill>
                  <a:srgbClr val="152240"/>
                </a:solidFill>
                <a:latin typeface="Arial"/>
              </a:rPr>
              <a:t>Consistency, not just mean.</a:t>
            </a:r>
            <a:r>
              <a:rPr sz="1200" b="0" i="0">
                <a:solidFill>
                  <a:srgbClr val="152240"/>
                </a:solidFill>
                <a:latin typeface="Arial"/>
              </a:rPr>
              <a:t> Spread collapses from ±2.76 s to ±0.42 s. The seed where the frozen policy crumples at 1.3 s is carried to 10.4 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4389120"/>
            <a:ext cx="5187391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8449"/>
                </a:solidFill>
                <a:latin typeface="Arial"/>
              </a:rPr>
              <a:t>•  </a:t>
            </a:r>
            <a:r>
              <a:rPr sz="1200" b="1" i="0">
                <a:solidFill>
                  <a:srgbClr val="152240"/>
                </a:solidFill>
                <a:latin typeface="Arial"/>
              </a:rPr>
              <a:t>The task comes back.</a:t>
            </a:r>
            <a:r>
              <a:rPr sz="1200" b="0" i="0">
                <a:solidFill>
                  <a:srgbClr val="152240"/>
                </a:solidFill>
                <a:latin typeface="Arial"/>
              </a:rPr>
              <a:t> Frozen reaches the set-down on 4 of 6. Adaptation reaches it on all 6.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37376" y="5084064"/>
            <a:ext cx="5187391" cy="1207008"/>
          </a:xfrm>
          <a:prstGeom prst="roundRect">
            <a:avLst>
              <a:gd name="adj" fmla="val 6000"/>
            </a:avLst>
          </a:prstGeom>
          <a:solidFill>
            <a:srgbClr val="FBF1E3"/>
          </a:solidFill>
          <a:ln w="17780">
            <a:solidFill>
              <a:srgbClr val="B9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38544" y="5193792"/>
            <a:ext cx="4785055" cy="10424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9770E"/>
                </a:solidFill>
                <a:latin typeface="Arial"/>
              </a:rPr>
              <a:t>THE MASK DECIDES, NOT THE GAIN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52240"/>
                </a:solidFill>
                <a:latin typeface="Arial"/>
              </a:rPr>
              <a:t>Waist-only runs the same 3e-4 gain that is catastrophic with the paper's legs-and-waist mask: 2.63 s and never lifts the box. The legs are where balance lives on a floating base, so regulating their tracking error fights the balance the policy is maintaining.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382512"/>
            <a:ext cx="82933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SURF 2026  ·  Baaqer Farhat  ·  Caltech ARCL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E8449"/>
                </a:solidFill>
                <a:latin typeface="Arial"/>
              </a:rPr>
              <a:t>ADAPTATION  ·  SIDE BY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2240"/>
                </a:solidFill>
                <a:latin typeface="Arial"/>
              </a:rPr>
              <a:t>Same policy, same fault, one difference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29284"/>
            <a:ext cx="1298448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52240"/>
                </a:solidFill>
                <a:latin typeface="Arial"/>
              </a:rPr>
              <a:t>All three clips run the v31 box-pickup policy. The only change between the middle and the right is whether the adaptation update is switched 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3808" y="1773936"/>
            <a:ext cx="3017520" cy="310896"/>
          </a:xfrm>
          <a:prstGeom prst="rect">
            <a:avLst/>
          </a:prstGeom>
          <a:solidFill>
            <a:srgbClr val="15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1824" y="1773936"/>
            <a:ext cx="276148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VIDEO 1   </a:t>
            </a:r>
            <a:r>
              <a:rPr sz="1050" b="0" i="0">
                <a:solidFill>
                  <a:srgbClr val="FFFFFF"/>
                </a:solidFill>
                <a:latin typeface="Arial"/>
              </a:rPr>
              <a:t>Nominal, frozen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3808" y="2084832"/>
            <a:ext cx="3017520" cy="2980944"/>
          </a:xfrm>
          <a:prstGeom prst="rect">
            <a:avLst/>
          </a:prstGeom>
          <a:solidFill>
            <a:srgbClr val="111418"/>
          </a:solidFill>
          <a:ln w="15875">
            <a:solidFill>
              <a:srgbClr val="152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pic>
        <p:nvPicPr>
          <p:cNvPr id="9" name="Picture 8" descr="adapt1_no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808" y="2085403"/>
            <a:ext cx="3017520" cy="297980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203808" y="2084832"/>
            <a:ext cx="3017520" cy="2980944"/>
          </a:xfrm>
          <a:prstGeom prst="rect">
            <a:avLst/>
          </a:prstGeom>
          <a:noFill/>
          <a:ln w="15875">
            <a:solidFill>
              <a:srgbClr val="152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11400" y="33741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2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5400000">
            <a:off x="2632100" y="3474720"/>
            <a:ext cx="144841" cy="201168"/>
          </a:xfrm>
          <a:prstGeom prst="triangle">
            <a:avLst/>
          </a:prstGeom>
          <a:solidFill>
            <a:srgbClr val="15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3808" y="5157216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52240"/>
                </a:solidFill>
                <a:latin typeface="Arial"/>
              </a:rPr>
              <a:t>Healthy robot. Completes the pickup, carry and set-down.  14.68 s, 6/6 seeds.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850" b="0" i="0">
                <a:solidFill>
                  <a:srgbClr val="5C6670"/>
                </a:solidFill>
                <a:latin typeface="Consolas"/>
              </a:rPr>
              <a:t>x2_box_v31_flatfoot_iter202500.mp4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87088" y="1773936"/>
            <a:ext cx="3017520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5104" y="1773936"/>
            <a:ext cx="276148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VIDEO 2   </a:t>
            </a:r>
            <a:r>
              <a:rPr sz="1050" b="0" i="0">
                <a:solidFill>
                  <a:srgbClr val="FFFFFF"/>
                </a:solidFill>
                <a:latin typeface="Arial"/>
              </a:rPr>
              <a:t>Knee fault, frozen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87088" y="2084832"/>
            <a:ext cx="3017520" cy="2980944"/>
          </a:xfrm>
          <a:prstGeom prst="rect">
            <a:avLst/>
          </a:prstGeom>
          <a:solidFill>
            <a:srgbClr val="111418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pic>
        <p:nvPicPr>
          <p:cNvPr id="17" name="Picture 16" descr="adapt2_fault_froz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088" y="2085403"/>
            <a:ext cx="3017520" cy="2979801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587088" y="2084832"/>
            <a:ext cx="3017520" cy="2980944"/>
          </a:xfrm>
          <a:prstGeom prst="rect">
            <a:avLst/>
          </a:prstGeom>
          <a:noFill/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94680" y="33741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5400000">
            <a:off x="6015380" y="3474720"/>
            <a:ext cx="144841" cy="201168"/>
          </a:xfrm>
          <a:prstGeom prst="triangl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7088" y="5157216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52240"/>
                </a:solidFill>
                <a:latin typeface="Arial"/>
              </a:rPr>
              <a:t>Right knee at 30%. Sags under the payload and falls before the set-down.  7.43 s.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850" b="0" i="0">
                <a:solidFill>
                  <a:srgbClr val="5C6670"/>
                </a:solidFill>
                <a:latin typeface="Consolas"/>
              </a:rPr>
              <a:t>isaac_fault_knee03_frozen_vs_waistadapt.mp4  (left half)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0368" y="1773936"/>
            <a:ext cx="3017520" cy="310896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8384" y="1773936"/>
            <a:ext cx="276148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VIDEO 3   </a:t>
            </a:r>
            <a:r>
              <a:rPr sz="1050" b="0" i="0">
                <a:solidFill>
                  <a:srgbClr val="FFFFFF"/>
                </a:solidFill>
                <a:latin typeface="Arial"/>
              </a:rPr>
              <a:t>Knee fault, waist adaptation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70368" y="2084832"/>
            <a:ext cx="3017520" cy="2980944"/>
          </a:xfrm>
          <a:prstGeom prst="rect">
            <a:avLst/>
          </a:prstGeom>
          <a:solidFill>
            <a:srgbClr val="111418"/>
          </a:solidFill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pic>
        <p:nvPicPr>
          <p:cNvPr id="25" name="Picture 24" descr="adapt3_fault_ada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0368" y="2085403"/>
            <a:ext cx="3017520" cy="2979801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7970368" y="2084832"/>
            <a:ext cx="3017520" cy="2980944"/>
          </a:xfrm>
          <a:prstGeom prst="rect">
            <a:avLst/>
          </a:prstGeom>
          <a:noFill/>
          <a:ln w="15875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77960" y="33741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5400000">
            <a:off x="9398660" y="3474720"/>
            <a:ext cx="144841" cy="201168"/>
          </a:xfrm>
          <a:prstGeom prst="triangle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70368" y="5157216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52240"/>
                </a:solidFill>
                <a:latin typeface="Arial"/>
              </a:rPr>
              <a:t>Same fault, adaptation on. Holds the box and reaches the set-down.  11.36 s.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850" b="0" i="0">
                <a:solidFill>
                  <a:srgbClr val="5C6670"/>
                </a:solidFill>
                <a:latin typeface="Consolas"/>
              </a:rPr>
              <a:t>isaac_fault_knee03_frozen_vs_waistadapt.mp4  (right half)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82512"/>
            <a:ext cx="82933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SURF 2026  ·  Baaqer Farhat  ·  Caltech ARCL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9770E"/>
                </a:solidFill>
                <a:latin typeface="Arial"/>
              </a:rPr>
              <a:t>PERCEPTION  ·  LONGER TERM AUTONOMY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2240"/>
                </a:solidFill>
                <a:latin typeface="Arial"/>
              </a:rPr>
              <a:t>VLM perception: built and benchmarked, not yet closed on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29284"/>
            <a:ext cx="1298448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52240"/>
                </a:solidFill>
                <a:latin typeface="Arial"/>
              </a:rPr>
              <a:t>Adaptation handles faults the robot can feel in its own tracking error. Deciding what to do next needs the robot to understand the scene, which is where a vision language model fits.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47088"/>
            <a:ext cx="2558720" cy="676656"/>
          </a:xfrm>
          <a:prstGeom prst="roundRect">
            <a:avLst>
              <a:gd name="adj" fmla="val 10000"/>
            </a:avLst>
          </a:prstGeom>
          <a:solidFill>
            <a:srgbClr val="EFF3F7"/>
          </a:solidFill>
          <a:ln w="16510">
            <a:solidFill>
              <a:srgbClr val="152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3926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52240"/>
                </a:solidFill>
                <a:latin typeface="Arial"/>
              </a:rPr>
              <a:t>Orbbec Gemini 335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31136"/>
            <a:ext cx="241241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head RGB, 1280 × 720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9968" y="1847088"/>
            <a:ext cx="2558720" cy="676656"/>
          </a:xfrm>
          <a:prstGeom prst="roundRect">
            <a:avLst>
              <a:gd name="adj" fmla="val 10000"/>
            </a:avLst>
          </a:prstGeom>
          <a:solidFill>
            <a:srgbClr val="EFF3F7"/>
          </a:solidFill>
          <a:ln w="16510">
            <a:solidFill>
              <a:srgbClr val="152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9696" y="1956816"/>
            <a:ext cx="233926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52240"/>
                </a:solidFill>
                <a:latin typeface="Arial"/>
              </a:rPr>
              <a:t>Camera server on robot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3120" y="2231136"/>
            <a:ext cx="241241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JPEG over HTTP, port 8099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8" y="1847088"/>
            <a:ext cx="2558720" cy="676656"/>
          </a:xfrm>
          <a:prstGeom prst="roundRect">
            <a:avLst>
              <a:gd name="adj" fmla="val 10000"/>
            </a:avLst>
          </a:prstGeom>
          <a:solidFill>
            <a:srgbClr val="FBF1E3"/>
          </a:solidFill>
          <a:ln w="16510">
            <a:solidFill>
              <a:srgbClr val="B9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2736" y="1956816"/>
            <a:ext cx="233926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52240"/>
                </a:solidFill>
                <a:latin typeface="Arial"/>
              </a:rPr>
              <a:t>Ollama on workstation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6160" y="2231136"/>
            <a:ext cx="241241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Qwen2.5-VL 7B / 3B, Moondream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6047" y="1847088"/>
            <a:ext cx="2558720" cy="676656"/>
          </a:xfrm>
          <a:prstGeom prst="roundRect">
            <a:avLst>
              <a:gd name="adj" fmla="val 10000"/>
            </a:avLst>
          </a:prstGeom>
          <a:solidFill>
            <a:srgbClr val="FBF1E3"/>
          </a:solidFill>
          <a:ln w="16510">
            <a:solidFill>
              <a:srgbClr val="B9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5775" y="1956816"/>
            <a:ext cx="233926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52240"/>
                </a:solidFill>
                <a:latin typeface="Arial"/>
              </a:rPr>
              <a:t>Scene description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9199" y="2231136"/>
            <a:ext cx="241241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objects, people, coarse position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125648" y="2185416"/>
            <a:ext cx="274320" cy="0"/>
          </a:xfrm>
          <a:prstGeom prst="line">
            <a:avLst/>
          </a:prstGeom>
          <a:ln w="19050">
            <a:solidFill>
              <a:srgbClr val="B977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958688" y="2185416"/>
            <a:ext cx="274320" cy="0"/>
          </a:xfrm>
          <a:prstGeom prst="line">
            <a:avLst/>
          </a:prstGeom>
          <a:ln w="19050">
            <a:solidFill>
              <a:srgbClr val="B977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791727" y="2185416"/>
            <a:ext cx="274320" cy="0"/>
          </a:xfrm>
          <a:prstGeom prst="line">
            <a:avLst/>
          </a:prstGeom>
          <a:ln w="19050">
            <a:solidFill>
              <a:srgbClr val="B977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fig_vlm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64" y="2761488"/>
            <a:ext cx="4383480" cy="22128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58368" y="5084064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Warm, end to end, RTX 5070 8 GB. 12 frames from one 15 s clip, identical prompt, temperature 0.2.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97296" y="2761488"/>
            <a:ext cx="5827471" cy="1156716"/>
          </a:xfrm>
          <a:prstGeom prst="roundRect">
            <a:avLst>
              <a:gd name="adj" fmla="val 6000"/>
            </a:avLst>
          </a:prstGeom>
          <a:solidFill>
            <a:srgbClr val="EAF5EC"/>
          </a:solidFill>
          <a:ln w="16510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0176" y="2880360"/>
            <a:ext cx="5461711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8449"/>
                </a:solidFill>
                <a:latin typeface="Arial"/>
              </a:rPr>
              <a:t>COMPLETED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0176" y="3163824"/>
            <a:ext cx="5461711" cy="6812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E8449"/>
                </a:solidFill>
                <a:latin typeface="Arial"/>
              </a:rPr>
              <a:t>•  </a:t>
            </a:r>
            <a:r>
              <a:rPr sz="1050" b="0" i="0">
                <a:solidFill>
                  <a:srgbClr val="152240"/>
                </a:solidFill>
                <a:latin typeface="Arial"/>
              </a:rPr>
              <a:t>Head camera streamed off the robot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E8449"/>
                </a:solidFill>
                <a:latin typeface="Arial"/>
              </a:rPr>
              <a:t>•  </a:t>
            </a:r>
            <a:r>
              <a:rPr sz="1050" b="0" i="0">
                <a:solidFill>
                  <a:srgbClr val="152240"/>
                </a:solidFill>
                <a:latin typeface="Arial"/>
              </a:rPr>
              <a:t>Three models served locally through Ollama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E8449"/>
                </a:solidFill>
                <a:latin typeface="Arial"/>
              </a:rPr>
              <a:t>•  </a:t>
            </a:r>
            <a:r>
              <a:rPr sz="1050" b="0" i="0">
                <a:solidFill>
                  <a:srgbClr val="152240"/>
                </a:solidFill>
                <a:latin typeface="Arial"/>
              </a:rPr>
              <a:t>Latency and description quality measured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97296" y="4082796"/>
            <a:ext cx="5827471" cy="726948"/>
          </a:xfrm>
          <a:prstGeom prst="roundRect">
            <a:avLst>
              <a:gd name="adj" fmla="val 6000"/>
            </a:avLst>
          </a:prstGeom>
          <a:solidFill>
            <a:srgbClr val="FBF1E3"/>
          </a:solidFill>
          <a:ln w="16510">
            <a:solidFill>
              <a:srgbClr val="B9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0176" y="4201668"/>
            <a:ext cx="5461711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9770E"/>
                </a:solidFill>
                <a:latin typeface="Arial"/>
              </a:rPr>
              <a:t>CURRENTLY 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0176" y="4485132"/>
            <a:ext cx="5461711" cy="251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B9770E"/>
                </a:solidFill>
                <a:latin typeface="Arial"/>
              </a:rPr>
              <a:t>•  </a:t>
            </a:r>
            <a:r>
              <a:rPr sz="1050" b="0" i="0">
                <a:solidFill>
                  <a:srgbClr val="152240"/>
                </a:solidFill>
                <a:latin typeface="Arial"/>
              </a:rPr>
              <a:t>Which model is accurate enough at a usable rate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97296" y="4974336"/>
            <a:ext cx="5827471" cy="941832"/>
          </a:xfrm>
          <a:prstGeom prst="roundRect">
            <a:avLst>
              <a:gd name="adj" fmla="val 6000"/>
            </a:avLst>
          </a:prstGeom>
          <a:solidFill>
            <a:srgbClr val="DDEBF6"/>
          </a:solidFill>
          <a:ln w="1651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80176" y="5093208"/>
            <a:ext cx="5461711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86C1"/>
                </a:solidFill>
                <a:latin typeface="Arial"/>
              </a:rPr>
              <a:t>NEXT STEP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0176" y="5376672"/>
            <a:ext cx="5461711" cy="4663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E86C1"/>
                </a:solidFill>
                <a:latin typeface="Arial"/>
              </a:rPr>
              <a:t>•  </a:t>
            </a:r>
            <a:r>
              <a:rPr sz="1050" b="0" i="0">
                <a:solidFill>
                  <a:srgbClr val="152240"/>
                </a:solidFill>
                <a:latin typeface="Arial"/>
              </a:rPr>
              <a:t>Free text into a structured signal the controller can consume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382512"/>
            <a:ext cx="82933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SURF 2026  ·  Baaqer Farhat  ·  Caltech ARCL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86C1"/>
                </a:solidFill>
                <a:latin typeface="Arial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2240"/>
                </a:solidFill>
                <a:latin typeface="Arial"/>
              </a:rPr>
              <a:t>What this summer produced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29284"/>
            <a:ext cx="1298448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1422937" cy="24871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4604">
            <a:solidFill>
              <a:srgbClr val="C5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45920"/>
            <a:ext cx="1422937" cy="38404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131320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Retargeting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176272"/>
            <a:ext cx="1166905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52240"/>
                </a:solidFill>
                <a:latin typeface="Arial"/>
              </a:rPr>
              <a:t>Fixed two retargeter defects: a joint-limit off-by-one and a 4.6 rad/s transient at the clip start.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08153" y="2889504"/>
            <a:ext cx="146304" cy="0"/>
          </a:xfrm>
          <a:prstGeom prst="line">
            <a:avLst/>
          </a:prstGeom>
          <a:ln w="20320">
            <a:solidFill>
              <a:srgbClr val="C5CD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72745" y="1645920"/>
            <a:ext cx="1422937" cy="24871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4604">
            <a:solidFill>
              <a:srgbClr val="C5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72745" y="1645920"/>
            <a:ext cx="1422937" cy="38404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27609" y="1645920"/>
            <a:ext cx="131320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Box pickup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0761" y="2176272"/>
            <a:ext cx="1166905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52240"/>
                </a:solidFill>
                <a:latin typeface="Arial"/>
              </a:rPr>
              <a:t>8.7 s whole-body pickup, carry and set-down. 33 training runs from first tracking to the deployed policy.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13970" y="2889504"/>
            <a:ext cx="146304" cy="0"/>
          </a:xfrm>
          <a:prstGeom prst="line">
            <a:avLst/>
          </a:prstGeom>
          <a:ln w="20320">
            <a:solidFill>
              <a:srgbClr val="C5CD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78562" y="1645920"/>
            <a:ext cx="1422937" cy="24871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4604">
            <a:solidFill>
              <a:srgbClr val="C5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78562" y="1645920"/>
            <a:ext cx="1422937" cy="38404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33426" y="1645920"/>
            <a:ext cx="131320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Hardware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6578" y="2176272"/>
            <a:ext cx="1166905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52240"/>
                </a:solidFill>
                <a:latin typeface="Arial"/>
              </a:rPr>
              <a:t>Exported to a numpy-only policy, deployed over ROS 2 at 50 Hz. 57 logged runs on the physical X2.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219787" y="2889504"/>
            <a:ext cx="146304" cy="0"/>
          </a:xfrm>
          <a:prstGeom prst="line">
            <a:avLst/>
          </a:prstGeom>
          <a:ln w="20320">
            <a:solidFill>
              <a:srgbClr val="C5CD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384379" y="1645920"/>
            <a:ext cx="1422937" cy="24871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4604">
            <a:solidFill>
              <a:srgbClr val="C5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84379" y="1645920"/>
            <a:ext cx="1422937" cy="38404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39243" y="1645920"/>
            <a:ext cx="131320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Crawling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2395" y="2176272"/>
            <a:ext cx="1166905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52240"/>
                </a:solidFill>
                <a:latin typeface="Arial"/>
              </a:rPr>
              <a:t>Prone slope crawl with a purpose-written reward, contact and observation set. Also run on hardware.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25604" y="2889504"/>
            <a:ext cx="146304" cy="0"/>
          </a:xfrm>
          <a:prstGeom prst="line">
            <a:avLst/>
          </a:prstGeom>
          <a:ln w="20320">
            <a:solidFill>
              <a:srgbClr val="C5CD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990196" y="1645920"/>
            <a:ext cx="1422937" cy="24871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4604">
            <a:solidFill>
              <a:srgbClr val="C5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90196" y="1645920"/>
            <a:ext cx="1422937" cy="3840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5060" y="1645920"/>
            <a:ext cx="131320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Fault 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8212" y="2176272"/>
            <a:ext cx="1166905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52240"/>
                </a:solidFill>
                <a:latin typeface="Arial"/>
              </a:rPr>
              <a:t>Injected a right-knee actuator fault at 30% stiffness. Frozen policy falls from 14.7 s to 7.4 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431421" y="2889504"/>
            <a:ext cx="146304" cy="0"/>
          </a:xfrm>
          <a:prstGeom prst="line">
            <a:avLst/>
          </a:prstGeom>
          <a:ln w="20320">
            <a:solidFill>
              <a:srgbClr val="C5CD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596013" y="1645920"/>
            <a:ext cx="1422937" cy="24871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4604">
            <a:solidFill>
              <a:srgbClr val="C5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96013" y="1645920"/>
            <a:ext cx="1422937" cy="384048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50877" y="1645920"/>
            <a:ext cx="131320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Adaptation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24029" y="2176272"/>
            <a:ext cx="1166905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52240"/>
                </a:solidFill>
                <a:latin typeface="Arial"/>
              </a:rPr>
              <a:t>Ported the ACC layer-adaptation law into Isaac and onto the robot. 11.36 s, 6/6 set-down, p = 0.0011.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037238" y="2889504"/>
            <a:ext cx="146304" cy="0"/>
          </a:xfrm>
          <a:prstGeom prst="line">
            <a:avLst/>
          </a:prstGeom>
          <a:ln w="20320">
            <a:solidFill>
              <a:srgbClr val="C5CD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201830" y="1645920"/>
            <a:ext cx="1422937" cy="24871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4604">
            <a:solidFill>
              <a:srgbClr val="C5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201830" y="1645920"/>
            <a:ext cx="1422937" cy="38404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56694" y="1645920"/>
            <a:ext cx="131320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VLM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29846" y="2176272"/>
            <a:ext cx="1166905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52240"/>
                </a:solidFill>
                <a:latin typeface="Arial"/>
              </a:rPr>
              <a:t>Head camera streamed to three local VLMs and benchmarked for latency and description quality.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4517136"/>
            <a:ext cx="11057839" cy="768096"/>
          </a:xfrm>
          <a:prstGeom prst="roundRect">
            <a:avLst>
              <a:gd name="adj" fmla="val 100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4517136"/>
            <a:ext cx="10655503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52240"/>
                </a:solidFill>
                <a:latin typeface="Arial"/>
              </a:rPr>
              <a:t>Contributed here:</a:t>
            </a:r>
            <a:r>
              <a:rPr sz="1250" b="0" i="0">
                <a:solidFill>
                  <a:srgbClr val="152240"/>
                </a:solidFill>
                <a:latin typeface="Arial"/>
              </a:rPr>
              <a:t>  the X2 integration and retargeting fixes, task and reward design in holosoma, every training run, the numpy export and ROS 2 deployment, the fault injection harness, and the adaptation port in both simulation and hardware form.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557784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C6670"/>
                </a:solidFill>
                <a:latin typeface="Arial"/>
              </a:rPr>
              <a:t>Built on holosoma for whole-body tracking, the OmniRetarget and CMU motion datasets, and the ACC 2026 adaptation law.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382512"/>
            <a:ext cx="82933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SURF 2026  ·  Baaqer Farhat  ·  Caltech ARCL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86C1"/>
                </a:solidFill>
                <a:latin typeface="Arial"/>
              </a:rPr>
              <a:t>CURRENT STATUS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2240"/>
                </a:solidFill>
                <a:latin typeface="Arial"/>
              </a:rPr>
              <a:t>Where the system stands, and what comes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29284"/>
            <a:ext cx="1298448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16736"/>
            <a:ext cx="5394960" cy="466344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13970">
            <a:solidFill>
              <a:srgbClr val="C5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53619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C1"/>
                </a:solidFill>
                <a:latin typeface="Arial"/>
              </a:rPr>
              <a:t>WHAT THE SYSTEM DOES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938528"/>
            <a:ext cx="41148" cy="78638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901952"/>
            <a:ext cx="4608576" cy="8412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52240"/>
                </a:solidFill>
                <a:latin typeface="Arial"/>
              </a:rPr>
              <a:t>Box pickup</a:t>
            </a:r>
          </a:p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670"/>
                </a:solidFill>
                <a:latin typeface="Arial"/>
              </a:rPr>
              <a:t>8.7 s whole-body motion in simulation and on the physical X2, with flat planted feet and a clean set-down.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2898648"/>
            <a:ext cx="41148" cy="78638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862072"/>
            <a:ext cx="4608576" cy="8412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52240"/>
                </a:solidFill>
                <a:latin typeface="Arial"/>
              </a:rPr>
              <a:t>Crawling</a:t>
            </a:r>
          </a:p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670"/>
                </a:solidFill>
                <a:latin typeface="Arial"/>
              </a:rPr>
              <a:t>Prone slope crawl trained in simulation, v3 exported and run on hardware.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858768"/>
            <a:ext cx="41148" cy="78638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822192"/>
            <a:ext cx="4608576" cy="8412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52240"/>
                </a:solidFill>
                <a:latin typeface="Arial"/>
              </a:rPr>
              <a:t>Deployment</a:t>
            </a:r>
          </a:p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670"/>
                </a:solidFill>
                <a:latin typeface="Arial"/>
              </a:rPr>
              <a:t>Numpy-only inference at 50 Hz over ROS 2, with a safety ladder and per-tick logging.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4818888"/>
            <a:ext cx="41148" cy="78638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4782312"/>
            <a:ext cx="4608576" cy="8412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52240"/>
                </a:solidFill>
                <a:latin typeface="Arial"/>
              </a:rPr>
              <a:t>Adaptation</a:t>
            </a:r>
          </a:p>
          <a:p>
            <a:pPr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670"/>
                </a:solidFill>
                <a:latin typeface="Arial"/>
              </a:rPr>
              <a:t>Runs online at 50 Hz in simulation and in the hardware deploy loop, and recovers the task under a knee fault.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1316736"/>
            <a:ext cx="5351983" cy="4663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C5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7104" y="1536192"/>
            <a:ext cx="480334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8449"/>
                </a:solidFill>
                <a:latin typeface="Arial"/>
              </a:rPr>
              <a:t>NEXT STEPS, IN PRIORITY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1920240"/>
            <a:ext cx="4803343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E8449"/>
                </a:solidFill>
                <a:latin typeface="Arial"/>
              </a:rPr>
              <a:t>1.  </a:t>
            </a:r>
            <a:r>
              <a:rPr sz="1300" b="1" i="0">
                <a:solidFill>
                  <a:srgbClr val="152240"/>
                </a:solidFill>
                <a:latin typeface="Arial"/>
              </a:rPr>
              <a:t>Generalize the fault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167128"/>
            <a:ext cx="4510735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670"/>
                </a:solidFill>
                <a:latin typeface="Arial"/>
              </a:rPr>
              <a:t>A hip or ankle fault, and a held-out seed pool.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2724912"/>
            <a:ext cx="4803343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E8449"/>
                </a:solidFill>
                <a:latin typeface="Arial"/>
              </a:rPr>
              <a:t>2.  </a:t>
            </a:r>
            <a:r>
              <a:rPr sz="1300" b="1" i="0">
                <a:solidFill>
                  <a:srgbClr val="152240"/>
                </a:solidFill>
                <a:latin typeface="Arial"/>
              </a:rPr>
              <a:t>Run the comparison on hardware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971800"/>
            <a:ext cx="4510735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670"/>
                </a:solidFill>
                <a:latin typeface="Arial"/>
              </a:rPr>
              <a:t>Both arms already run on the robot. What is missing is degrading a physical joint.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529584"/>
            <a:ext cx="4803343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E8449"/>
                </a:solidFill>
                <a:latin typeface="Arial"/>
              </a:rPr>
              <a:t>3.  </a:t>
            </a:r>
            <a:r>
              <a:rPr sz="1300" b="1" i="0">
                <a:solidFill>
                  <a:srgbClr val="152240"/>
                </a:solidFill>
                <a:latin typeface="Arial"/>
              </a:rPr>
              <a:t>A balance-targeted error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3776472"/>
            <a:ext cx="4510735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670"/>
                </a:solidFill>
                <a:latin typeface="Arial"/>
              </a:rPr>
              <a:t>Regulating joint error assumes balance follows. Define the error on a centre-of-mass term instead.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4334256"/>
            <a:ext cx="4803343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E8449"/>
                </a:solidFill>
                <a:latin typeface="Arial"/>
              </a:rPr>
              <a:t>4.  </a:t>
            </a:r>
            <a:r>
              <a:rPr sz="1300" b="1" i="0">
                <a:solidFill>
                  <a:srgbClr val="152240"/>
                </a:solidFill>
                <a:latin typeface="Arial"/>
              </a:rPr>
              <a:t>Gate the adaptation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4581144"/>
            <a:ext cx="4510735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670"/>
                </a:solidFill>
                <a:latin typeface="Arial"/>
              </a:rPr>
              <a:t>Engage above an error threshold to restore a no-worse-than-frozen floor.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5138928"/>
            <a:ext cx="4803343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E8449"/>
                </a:solidFill>
                <a:latin typeface="Arial"/>
              </a:rPr>
              <a:t>5.  </a:t>
            </a:r>
            <a:r>
              <a:rPr sz="1300" b="1" i="0">
                <a:solidFill>
                  <a:srgbClr val="152240"/>
                </a:solidFill>
                <a:latin typeface="Arial"/>
              </a:rPr>
              <a:t>Close the perception loop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5385816"/>
            <a:ext cx="4510735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670"/>
                </a:solidFill>
                <a:latin typeface="Arial"/>
              </a:rPr>
              <a:t>VLM output as a structured signal the controller can act 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382512"/>
            <a:ext cx="82933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SURF 2026  ·  Baaqer Farhat  ·  Caltech ARCL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81328"/>
            <a:ext cx="9997135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rial"/>
              </a:rPr>
              <a:t>Humanoid policies can learn manipulation and locomotion that works.</a:t>
            </a:r>
          </a:p>
          <a:p>
            <a:pPr>
              <a:lnSpc>
                <a:spcPct val="122000"/>
              </a:lnSpc>
              <a:spcBef>
                <a:spcPts val="1400"/>
              </a:spcBef>
              <a:spcAft>
                <a:spcPts val="0"/>
              </a:spcAft>
            </a:pPr>
            <a:r>
              <a:rPr sz="2700" b="1" i="0">
                <a:solidFill>
                  <a:srgbClr val="7FB3D9"/>
                </a:solidFill>
                <a:latin typeface="Arial"/>
              </a:rPr>
              <a:t>Resilience is a different problem. It requires the robot to respond to changes in its own dynamics.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059936"/>
            <a:ext cx="1298448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334256"/>
            <a:ext cx="999713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8D6E4"/>
                </a:solidFill>
                <a:latin typeface="Arial"/>
              </a:rPr>
              <a:t>This summer produced the behaviors, the deployment path, and the adaptation framework that gets us there, with evidence that adaptation recovers a task the frozen policy loses.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596128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EA3BA"/>
                </a:solidFill>
                <a:latin typeface="Arial"/>
              </a:rPr>
              <a:t>Baaqer Farhat  ·  Caltech ARCL  ·  SURF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2415" y="559612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EA3BA"/>
                </a:solidFill>
                <a:latin typeface="Arial"/>
              </a:rPr>
              <a:t>Thank you. Questions welcome.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1188720"/>
          </a:xfrm>
          <a:prstGeom prst="rect">
            <a:avLst/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272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52240"/>
                </a:solidFill>
                <a:latin typeface="Arial"/>
              </a:rPr>
              <a:t>Backup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86C1"/>
                </a:solidFill>
                <a:latin typeface="Arial"/>
              </a:rPr>
              <a:t>BACKUP  ·  ADAPTATION ON A HEALTHY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2240"/>
                </a:solidFill>
                <a:latin typeface="Arial"/>
              </a:rPr>
              <a:t>The same law on a healthy robot spends margin the task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29284"/>
            <a:ext cx="1298448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pic>
        <p:nvPicPr>
          <p:cNvPr id="5" name="Picture 4" descr="fig_healthy_vs_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47" y="1389888"/>
            <a:ext cx="6221483" cy="2834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87768" y="1444752"/>
            <a:ext cx="433699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2E86C1"/>
                </a:solidFill>
                <a:latin typeface="Arial"/>
              </a:rPr>
              <a:t>•   </a:t>
            </a:r>
            <a:r>
              <a:rPr sz="1150" b="1" i="0">
                <a:solidFill>
                  <a:srgbClr val="152240"/>
                </a:solidFill>
                <a:latin typeface="Arial"/>
              </a:rPr>
              <a:t>The tracking claim reproduces. </a:t>
            </a:r>
            <a:r>
              <a:rPr sz="1150" b="0" i="0">
                <a:solidFill>
                  <a:srgbClr val="152240"/>
                </a:solidFill>
                <a:latin typeface="Arial"/>
              </a:rPr>
              <a:t>On the window every variant survived, leg tracking error goes from 14.82° frozen to 8.01° adapted. That is a 40% reduction, against 37% reported in the original MuJoCo testbed.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2E86C1"/>
                </a:solidFill>
                <a:latin typeface="Arial"/>
              </a:rPr>
              <a:t>•   </a:t>
            </a:r>
            <a:r>
              <a:rPr sz="1150" b="1" i="0">
                <a:solidFill>
                  <a:srgbClr val="152240"/>
                </a:solidFill>
                <a:latin typeface="Arial"/>
              </a:rPr>
              <a:t>What does not transfer is the implication. </a:t>
            </a:r>
            <a:r>
              <a:rPr sz="1150" b="0" i="0">
                <a:solidFill>
                  <a:srgbClr val="152240"/>
                </a:solidFill>
                <a:latin typeface="Arial"/>
              </a:rPr>
              <a:t>The published baseline falls at 1.94 s and never completes the motion, so adaptation could only add. Ours survives 14.68 s and completes the task on 6 of 6, and the same law spends that margin buying tracking accuracy the task did not need.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2E86C1"/>
                </a:solidFill>
                <a:latin typeface="Arial"/>
              </a:rPr>
              <a:t>•   </a:t>
            </a:r>
            <a:r>
              <a:rPr sz="1150" b="1" i="0">
                <a:solidFill>
                  <a:srgbClr val="152240"/>
                </a:solidFill>
                <a:latin typeface="Arial"/>
              </a:rPr>
              <a:t>This is why the fault experiment matters. </a:t>
            </a:r>
            <a:r>
              <a:rPr sz="1150" b="0" i="0">
                <a:solidFill>
                  <a:srgbClr val="152240"/>
                </a:solidFill>
                <a:latin typeface="Arial"/>
              </a:rPr>
              <a:t>A recovery controller applied to a healthy robot is outside the domain of the method. The comparison that means something is the one under the fault.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718304"/>
            <a:ext cx="11057839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C5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4718304"/>
            <a:ext cx="10655503" cy="7863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52240"/>
                </a:solidFill>
                <a:latin typeface="Arial"/>
              </a:rPr>
              <a:t>Controls:</a:t>
            </a:r>
            <a:r>
              <a:rPr sz="1150" b="0" i="0">
                <a:solidFill>
                  <a:srgbClr val="152240"/>
                </a:solidFill>
                <a:latin typeface="Arial"/>
              </a:rPr>
              <a:t>  the numpy export matches the torch checkpoint to 4.2e-6 max action difference over 200 steps, and the baseline is that same numpy policy at gain zero, so the only difference between arms is the adaptation. A 1e-6 action perturbation moves leg error by 1.7° over 2.4 s, so every comparison is multi-seed.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669280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670"/>
                </a:solidFill>
                <a:latin typeface="Arial"/>
              </a:rPr>
              <a:t>Inverse-inertia weighting (gx level 2) is worse in both regimes. That reproduces the original finding: the weighting aims the correction at the lightest joints, the wrists and head, whose tracking errors are irrelevant to the task.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82512"/>
            <a:ext cx="82933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SURF 2026  ·  Baaqer Farhat  ·  Caltech ARCL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86C1"/>
                </a:solidFill>
                <a:latin typeface="Arial"/>
              </a:rPr>
              <a:t>BACKUP  ·  V33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2240"/>
                </a:solidFill>
                <a:latin typeface="Arial"/>
              </a:rPr>
              <a:t>Diagnosing a sim-to-real failure with matched simulation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29284"/>
            <a:ext cx="1298448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99032"/>
            <a:ext cx="45720" cy="6217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353312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Arial"/>
              </a:rPr>
              <a:t>Symptom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0128" y="1353312"/>
            <a:ext cx="8314639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52240"/>
                </a:solidFill>
                <a:latin typeface="Arial"/>
              </a:rPr>
              <a:t>All four takes of v33 abort on roll between 27% and 48% of the motion, always in the same direction.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75688"/>
            <a:ext cx="45720" cy="621792"/>
          </a:xfrm>
          <a:prstGeom prst="rect">
            <a:avLst/>
          </a:prstGeom>
          <a:solidFill>
            <a:srgbClr val="5C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2996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C6670"/>
                </a:solidFill>
                <a:latin typeface="Arial"/>
              </a:rPr>
              <a:t>First hypothesis, wrong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2029968"/>
            <a:ext cx="8314639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52240"/>
                </a:solidFill>
                <a:latin typeface="Arial"/>
              </a:rPr>
              <a:t>Compared against the only rollout on disk, which was a different policy. That pointed at a saturated ankle-roll command.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752344"/>
            <a:ext cx="45720" cy="62179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706624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86C1"/>
                </a:solidFill>
                <a:latin typeface="Arial"/>
              </a:rPr>
              <a:t>Matched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2706624"/>
            <a:ext cx="8314639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52240"/>
                </a:solidFill>
                <a:latin typeface="Arial"/>
              </a:rPr>
              <a:t>Identified the exact v33 reference clip and ran the same policy, same clip, 3 seeds. Simulation clips that joint on 92% of ticks and still succeeds, so saturation is learned behavior, not the gap.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429000"/>
            <a:ext cx="45720" cy="621792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3832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8449"/>
                </a:solidFill>
                <a:latin typeface="Arial"/>
              </a:rPr>
              <a:t>Actual cause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3383280"/>
            <a:ext cx="8314639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52240"/>
                </a:solidFill>
                <a:latin typeface="Arial"/>
              </a:rPr>
              <a:t>The deployment fed the torso IMU into base_ang_vel, which holosoma builds from the pelvis. The torso sits three waist joints above it, so this substitutes both a different body and a different frame.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105656"/>
            <a:ext cx="45720" cy="621792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059936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8449"/>
                </a:solidFill>
                <a:latin typeface="Arial"/>
              </a:rPr>
              <a:t>Confirmation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4059936"/>
            <a:ext cx="8314639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52240"/>
                </a:solidFill>
                <a:latin typeface="Arial"/>
              </a:rPr>
              <a:t>Reproducing that substitution in simulation drops the policy from 100% success and 9.8 s to 0% and 1.6 s, falling in the same 1.1 to 1.9 s window as the hardware.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782312"/>
            <a:ext cx="45720" cy="621792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4736592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8449"/>
                </a:solidFill>
                <a:latin typeface="Arial"/>
              </a:rPr>
              <a:t>Fix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128" y="4736592"/>
            <a:ext cx="8314639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52240"/>
                </a:solidFill>
                <a:latin typeface="Arial"/>
              </a:rPr>
              <a:t>A pelvis estimator composes the torso IMU with the measured waist joints. Removes 90.8% of the observation error and restores 100% success.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504688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5504688"/>
            <a:ext cx="10655503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52240"/>
                </a:solidFill>
                <a:latin typeface="Arial"/>
              </a:rPr>
              <a:t>Method that found it:</a:t>
            </a:r>
            <a:r>
              <a:rPr sz="1250" b="0" i="0">
                <a:solidFill>
                  <a:srgbClr val="152240"/>
                </a:solidFill>
                <a:latin typeface="Arial"/>
              </a:rPr>
              <a:t>  a single tracking-error number conflates command saturation, servo error and task error. Separating the three is what localized this, and reproducing the defect in simulation is what proved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82933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SURF 2026  ·  Baaqer Farhat  ·  Caltech ARCL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86C1"/>
                </a:solidFill>
                <a:latin typeface="Arial"/>
              </a:rPr>
              <a:t>BACKUP  · 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2240"/>
                </a:solidFill>
                <a:latin typeface="Arial"/>
              </a:rPr>
              <a:t>Configuration and reproduction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29284"/>
            <a:ext cx="1298448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16736"/>
            <a:ext cx="5336896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C5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16736"/>
            <a:ext cx="5336896" cy="36576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316736"/>
            <a:ext cx="493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847088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C1"/>
                </a:solidFill>
                <a:latin typeface="Arial"/>
              </a:rPr>
              <a:t>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40864" y="1847088"/>
            <a:ext cx="334350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52240"/>
                </a:solidFill>
                <a:latin typeface="Arial"/>
              </a:rPr>
              <a:t>holosoma whole-body tracking on IsaacLab / Isaac Sim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327148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C1"/>
                </a:solidFill>
                <a:latin typeface="Arial"/>
              </a:rPr>
              <a:t>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0864" y="2327148"/>
            <a:ext cx="334350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52240"/>
                </a:solidFill>
                <a:latin typeface="Arial"/>
              </a:rPr>
              <a:t>PPO, λ = 0.95, γ = 0.99, 4096 envs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807208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C1"/>
                </a:solidFill>
                <a:latin typeface="Arial"/>
              </a:rPr>
              <a:t>Rates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40864" y="2807208"/>
            <a:ext cx="334350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52240"/>
                </a:solidFill>
                <a:latin typeface="Arial"/>
              </a:rPr>
              <a:t>200 Hz physics, 50 Hz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287268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C1"/>
                </a:solidFill>
                <a:latin typeface="Arial"/>
              </a:rPr>
              <a:t>Actor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0864" y="3287268"/>
            <a:ext cx="334350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52240"/>
                </a:solidFill>
                <a:latin typeface="Arial"/>
              </a:rPr>
              <a:t>blind MLP 512-256-128 (ELU), 31 joint targets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767328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C1"/>
                </a:solidFill>
                <a:latin typeface="Arial"/>
              </a:rPr>
              <a:t>Critic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40864" y="3767328"/>
            <a:ext cx="334350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52240"/>
                </a:solidFill>
                <a:latin typeface="Arial"/>
              </a:rPr>
              <a:t>privileged, adds base linear velocity and object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247388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C1"/>
                </a:solidFill>
                <a:latin typeface="Arial"/>
              </a:rPr>
              <a:t>Pickup DR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0864" y="4247388"/>
            <a:ext cx="334350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52240"/>
                </a:solidFill>
                <a:latin typeface="Arial"/>
              </a:rPr>
              <a:t>box mass 0.4 to 1.6 kg, friction, PD gain, action delay, encoder noise, pushes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727448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C1"/>
                </a:solidFill>
                <a:latin typeface="Arial"/>
              </a:rPr>
              <a:t>Motion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0864" y="4727448"/>
            <a:ext cx="334350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52240"/>
                </a:solidFill>
                <a:latin typeface="Arial"/>
              </a:rPr>
              <a:t>OmniRetarget sub3_largebox_003, CMU crawl_111_03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7872" y="1316736"/>
            <a:ext cx="5336896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C5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87872" y="1316736"/>
            <a:ext cx="5336896" cy="36576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9040" y="1316736"/>
            <a:ext cx="493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ADAPTATION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7328" y="1847088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8449"/>
                </a:solidFill>
                <a:latin typeface="Arial"/>
              </a:rPr>
              <a:t>Law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1808" y="1847088"/>
            <a:ext cx="334350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52240"/>
                </a:solidFill>
                <a:latin typeface="Arial"/>
              </a:rPr>
              <a:t>ACC 2026 causality-guided layer adaptation, W₀ leak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7328" y="2327148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8449"/>
                </a:solidFill>
                <a:latin typeface="Arial"/>
              </a:rPr>
              <a:t>Adapted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1808" y="2327148"/>
            <a:ext cx="334350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52240"/>
                </a:solidFill>
                <a:latin typeface="Arial"/>
              </a:rPr>
              <a:t>layer index 2, 256 × 128 = 32,768 weights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7328" y="2807208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8449"/>
                </a:solidFill>
                <a:latin typeface="Arial"/>
              </a:rPr>
              <a:t>Gain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1808" y="2807208"/>
            <a:ext cx="334350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52240"/>
                </a:solidFill>
                <a:latin typeface="Arial"/>
              </a:rPr>
              <a:t>Γ = 3e-4, leak 0.01, engage step 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7328" y="3287268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8449"/>
                </a:solidFill>
                <a:latin typeface="Arial"/>
              </a:rPr>
              <a:t>Mask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61808" y="3287268"/>
            <a:ext cx="334350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52240"/>
                </a:solidFill>
                <a:latin typeface="Arial"/>
              </a:rPr>
              <a:t>waist yaw, pitch, roll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7328" y="3767328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8449"/>
                </a:solidFill>
                <a:latin typeface="Arial"/>
              </a:rPr>
              <a:t>Fault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1808" y="3767328"/>
            <a:ext cx="334350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52240"/>
                </a:solidFill>
                <a:latin typeface="Arial"/>
              </a:rPr>
              <a:t>right_knee_joint PD stiffness × 0.3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7328" y="4247388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8449"/>
                </a:solidFill>
                <a:latin typeface="Arial"/>
              </a:rPr>
              <a:t>Protocol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61808" y="4247388"/>
            <a:ext cx="334350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52240"/>
                </a:solidFill>
                <a:latin typeface="Arial"/>
              </a:rPr>
              <a:t>6 seeds, 734 steps, no DR, no observation noise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7328" y="4727448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8449"/>
                </a:solidFill>
                <a:latin typeface="Arial"/>
              </a:rPr>
              <a:t>Baseline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61808" y="4727448"/>
            <a:ext cx="334350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52240"/>
                </a:solidFill>
                <a:latin typeface="Arial"/>
              </a:rPr>
              <a:t>same numpy policy at gain 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5431536"/>
            <a:ext cx="11057839" cy="713232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13970">
            <a:solidFill>
              <a:srgbClr val="C5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" y="5541264"/>
            <a:ext cx="10582351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52240"/>
                </a:solidFill>
                <a:latin typeface="Arial"/>
              </a:rPr>
              <a:t>Full reproduction instructions, per-seed results and the hardware protocol are in adaptation/README.md and SETUP_ISAAC.md.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0"/>
                </a:solidFill>
                <a:latin typeface="Consolas"/>
              </a:rPr>
              <a:t>Repository: Agibot-humanoid  ·  box_pickup/  adaptation/  agibot_control_functions/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6382512"/>
            <a:ext cx="82933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SURF 2026  ·  Baaqer Farhat  ·  Caltech ARCL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670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