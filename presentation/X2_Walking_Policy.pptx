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201168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Teaching the X2 Humanoid to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C6D2E2"/>
                </a:solidFill>
                <a:latin typeface="Arial"/>
              </a:rPr>
              <a:t>Training a walking controller in simulation and running it on the real robot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92040"/>
            <a:ext cx="4023360" cy="182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Baaqer Farhat</a:t>
            </a:r>
            <a:r>
              <a:rPr sz="2000" b="1">
                <a:solidFill>
                  <a:srgbClr val="FFFFFF"/>
                </a:solidFill>
                <a:latin typeface="Arial"/>
              </a:rPr>
              <a:t>      Mahdi Taheri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E86C1"/>
                </a:solidFill>
                <a:latin typeface="Arial"/>
              </a:rPr>
              <a:t>AgiBot X2      MuJoCo      mjlab     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Learn a velocity conditioned walking controller for the 31 DoF X2 humanoid.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Track a commanded forward, lateral, and yaw velocity while keeping the base stable.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Train end to end in simulation with reinforcement learning, then transfer to hardware.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The gait emerges from the reward objective. There are no reference trajectories or scripted state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The control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A feedforward network mapping proprioceptive state to joint position targets at 50 Hz.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1">
                <a:solidFill>
                  <a:srgbClr val="23282E"/>
                </a:solidFill>
                <a:latin typeface="Arial"/>
              </a:rPr>
              <a:t>Observation:</a:t>
            </a:r>
          </a:p>
          <a:p>
            <a:pPr marL="676656" indent="-292608">
              <a:lnSpc>
                <a:spcPct val="108000"/>
              </a:lnSpc>
              <a:spcBef>
                <a:spcPts val="200"/>
              </a:spcBef>
              <a:spcAft>
                <a:spcPts val="600"/>
              </a:spcAft>
              <a:buClr>
                <a:srgbClr val="8A97A6"/>
              </a:buClr>
              <a:buFont typeface="Arial"/>
              <a:buChar char="▪"/>
            </a:pPr>
            <a:r>
              <a:rPr sz="1700" b="0">
                <a:solidFill>
                  <a:srgbClr val="5C6670"/>
                </a:solidFill>
                <a:latin typeface="Arial"/>
              </a:rPr>
              <a:t>Base angular velocity and projected gravity.</a:t>
            </a:r>
          </a:p>
          <a:p>
            <a:pPr marL="676656" indent="-292608">
              <a:lnSpc>
                <a:spcPct val="108000"/>
              </a:lnSpc>
              <a:spcBef>
                <a:spcPts val="200"/>
              </a:spcBef>
              <a:spcAft>
                <a:spcPts val="600"/>
              </a:spcAft>
              <a:buClr>
                <a:srgbClr val="8A97A6"/>
              </a:buClr>
              <a:buFont typeface="Arial"/>
              <a:buChar char="▪"/>
            </a:pPr>
            <a:r>
              <a:rPr sz="1700" b="0">
                <a:solidFill>
                  <a:srgbClr val="5C6670"/>
                </a:solidFill>
                <a:latin typeface="Arial"/>
              </a:rPr>
              <a:t>Joint positions and velocities, and the previous action.</a:t>
            </a:r>
          </a:p>
          <a:p>
            <a:pPr marL="676656" indent="-292608">
              <a:lnSpc>
                <a:spcPct val="108000"/>
              </a:lnSpc>
              <a:spcBef>
                <a:spcPts val="200"/>
              </a:spcBef>
              <a:spcAft>
                <a:spcPts val="600"/>
              </a:spcAft>
              <a:buClr>
                <a:srgbClr val="8A97A6"/>
              </a:buClr>
              <a:buFont typeface="Arial"/>
              <a:buChar char="▪"/>
            </a:pPr>
            <a:r>
              <a:rPr sz="1700" b="0">
                <a:solidFill>
                  <a:srgbClr val="5C6670"/>
                </a:solidFill>
                <a:latin typeface="Arial"/>
              </a:rPr>
              <a:t>The velocity command driving the gait.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1">
                <a:solidFill>
                  <a:srgbClr val="23282E"/>
                </a:solidFill>
                <a:latin typeface="Arial"/>
              </a:rPr>
              <a:t>Action:</a:t>
            </a:r>
          </a:p>
          <a:p>
            <a:pPr marL="676656" indent="-292608">
              <a:lnSpc>
                <a:spcPct val="108000"/>
              </a:lnSpc>
              <a:spcBef>
                <a:spcPts val="200"/>
              </a:spcBef>
              <a:spcAft>
                <a:spcPts val="600"/>
              </a:spcAft>
              <a:buClr>
                <a:srgbClr val="8A97A6"/>
              </a:buClr>
              <a:buFont typeface="Arial"/>
              <a:buChar char="▪"/>
            </a:pPr>
            <a:r>
              <a:rPr sz="1700" b="0">
                <a:solidFill>
                  <a:srgbClr val="5C6670"/>
                </a:solidFill>
                <a:latin typeface="Arial"/>
              </a:rPr>
              <a:t>A position target per joint, tracked by the actuator PD loops.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700" b="0">
                <a:solidFill>
                  <a:srgbClr val="5C6670"/>
                </a:solidFill>
                <a:latin typeface="Arial"/>
              </a:rPr>
              <a:t>Actor and critic share the observation. The critic additionally sees base linear velocity as a privileged, training only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Simulation and training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Training runs in MuJoCo Warp through mjlab, entirely on a single GPU.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Roughly 4096 environments step in parallel, each an independent robot on its own terrain.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One shared actor and critic collect experience from all environments at once.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This yields billions of simulated timesteps within a few hours of wall clock training.</a:t>
            </a:r>
          </a:p>
        </p:txBody>
      </p:sp>
      <p:pic>
        <p:nvPicPr>
          <p:cNvPr id="7" name="Picture 6" descr="thumb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4480"/>
            <a:ext cx="5394960" cy="28702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4534495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A subset of the parallel environments stepping simultaneously.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Learning formulation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4572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Stochastic policy over joint targets</a:t>
            </a:r>
          </a:p>
        </p:txBody>
      </p:sp>
      <p:pic>
        <p:nvPicPr>
          <p:cNvPr id="8" name="Picture 7" descr="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62" y="1444752"/>
            <a:ext cx="3099074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2240279"/>
            <a:ext cx="8229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Actions define PD position setpoints</a:t>
            </a:r>
          </a:p>
        </p:txBody>
      </p:sp>
      <p:pic>
        <p:nvPicPr>
          <p:cNvPr id="11" name="Picture 10" descr="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22" y="2267712"/>
            <a:ext cx="4617354" cy="548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3063239"/>
            <a:ext cx="8229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4572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Reward is a weighted sum of shaped terms</a:t>
            </a:r>
          </a:p>
        </p:txBody>
      </p:sp>
      <p:pic>
        <p:nvPicPr>
          <p:cNvPr id="14" name="Picture 13" descr="re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10" y="3090672"/>
            <a:ext cx="2006379" cy="548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7240" y="3886200"/>
            <a:ext cx="8229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572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Velocity tracking via an exponential kernel</a:t>
            </a:r>
          </a:p>
        </p:txBody>
      </p:sp>
      <p:pic>
        <p:nvPicPr>
          <p:cNvPr id="17" name="Picture 16" descr="velte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599" y="3913632"/>
            <a:ext cx="2710400" cy="5486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4709160"/>
            <a:ext cx="8229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4572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PPO maximizes the clipped surrogate</a:t>
            </a:r>
          </a:p>
        </p:txBody>
      </p:sp>
      <p:pic>
        <p:nvPicPr>
          <p:cNvPr id="20" name="Picture 19" descr="p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736592"/>
            <a:ext cx="6217920" cy="4620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77240" y="5623560"/>
            <a:ext cx="10607040" cy="18288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C6670"/>
                </a:solidFill>
                <a:latin typeface="Arial"/>
              </a:rPr>
              <a:t>On policy optimization: rollouts are batched across all environments, advantages estimated with GAE, and the policy updated by PPO with a clipped surrogate and entropy regularization.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Reward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07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6309360"/>
              </a:tblGrid>
              <a:tr h="620485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Reward term</a:t>
                      </a:r>
                    </a:p>
                  </a:txBody>
                  <a:tcPr anchor="ctr" marL="146304" marT="36576" marB="36576"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anchor="ctr" marL="146304" marT="36576" marB="36576">
                    <a:solidFill>
                      <a:srgbClr val="15224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Linear and angular velocity tracking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Match the commanded base velocity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Base orientation and height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Penalize torso tilt and unwanted vertical motion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Foot clearance and air time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Enforce distinct swing and stance phases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Action rate and torque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Regularize toward smooth, efficient motion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Foot slip and contact impact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Penalize sliding and hard landings</a:t>
                      </a:r>
                    </a:p>
                  </a:txBody>
                  <a:tcPr anchor="ctr" marL="146304" marT="36576" marB="36576">
                    <a:solidFill>
                      <a:srgbClr val="FFFFFF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Termination on fall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End and penalize the episode when the base drops</a:t>
                      </a:r>
                    </a:p>
                  </a:txBody>
                  <a:tcPr anchor="ctr" marL="146304" marT="36576" marB="36576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Robustness and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Velocity curriculum: the command range widens as tracking performance improves.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Domain randomization: ground friction, added base mass, and actuator gains vary per environment.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External perturbations: random base pushes force the policy to learn balance recovery.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Together these reduce the simulation to reality gap and prevent overfitting to one exact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Command conditioned locomotion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The policy is conditioned on a velocity command: forward, lateral, and yaw rate.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A single network produces forward, lateral, and turning gaits by varying that command.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900" b="0">
                <a:solidFill>
                  <a:srgbClr val="23282E"/>
                </a:solidFill>
                <a:latin typeface="Arial"/>
              </a:rPr>
              <a:t>At deployment we stream a fixed command, for example 0.3 m/s forward, to drive walking.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Policy progression over training</a:t>
            </a:r>
          </a:p>
        </p:txBody>
      </p:sp>
      <p:pic>
        <p:nvPicPr>
          <p:cNvPr id="6" name="Picture 5" descr="thum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2076236" cy="9635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847167"/>
            <a:ext cx="20762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Iteration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76351"/>
            <a:ext cx="20762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Untrained, collapses immediately</a:t>
            </a:r>
          </a:p>
        </p:txBody>
      </p:sp>
      <p:pic>
        <p:nvPicPr>
          <p:cNvPr id="9" name="Picture 8" descr="thumb_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324" y="1737360"/>
            <a:ext cx="2076236" cy="963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0324" y="2847167"/>
            <a:ext cx="20762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Iteration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0324" y="3176351"/>
            <a:ext cx="20762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Unstable, fails to hold balance</a:t>
            </a:r>
          </a:p>
        </p:txBody>
      </p:sp>
      <p:pic>
        <p:nvPicPr>
          <p:cNvPr id="12" name="Picture 11" descr="thumb_3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29" y="1737360"/>
            <a:ext cx="2076236" cy="9635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7729" y="2847167"/>
            <a:ext cx="20762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Iteration 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7729" y="3176351"/>
            <a:ext cx="20762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Emerging forward stepping</a:t>
            </a:r>
          </a:p>
        </p:txBody>
      </p:sp>
      <p:pic>
        <p:nvPicPr>
          <p:cNvPr id="15" name="Picture 14" descr="thumb_6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133" y="1737360"/>
            <a:ext cx="2076236" cy="9635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5133" y="2847167"/>
            <a:ext cx="20762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Iteration 6000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5133" y="3176351"/>
            <a:ext cx="20762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Consistent locomotion</a:t>
            </a:r>
          </a:p>
        </p:txBody>
      </p:sp>
      <p:pic>
        <p:nvPicPr>
          <p:cNvPr id="18" name="Picture 17" descr="thumb_99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2538" y="1737360"/>
            <a:ext cx="2076236" cy="9635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12538" y="2847167"/>
            <a:ext cx="20762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Iteration 10000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2538" y="3176351"/>
            <a:ext cx="20762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Stable, converged gait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C6670"/>
                </a:solidFill>
                <a:latin typeface="Arial"/>
              </a:rPr>
              <a:t>Deterministic rollouts of saved checkpoints under a fixed forward command.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Deployment on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The trained actor is exported to a compact model and runs with numpy only on the robot.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The deployment policy drops base linear velocity from its observation, since it is not measurable on hardware. The critic used it only in training.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Inference runs at 50 Hz over ROS 2, and the onboard PD loops track the joint targets.</a:t>
            </a:r>
          </a:p>
          <a:p>
            <a:pPr marL="292608" indent="-292608">
              <a:lnSpc>
                <a:spcPct val="108000"/>
              </a:lnSpc>
              <a:spcBef>
                <a:spcPts val="600"/>
              </a:spcBef>
              <a:spcAft>
                <a:spcPts val="12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The velocity command is streamed live, so the same policy walks in any direction on the real robot.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737360"/>
            <a:ext cx="5394960" cy="3035808"/>
          </a:xfrm>
          <a:prstGeom prst="rect">
            <a:avLst/>
          </a:prstGeom>
          <a:solidFill>
            <a:srgbClr val="EFF3F7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5394960" cy="3035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E86C1"/>
                </a:solidFill>
                <a:latin typeface="Arial"/>
              </a:rPr>
              <a:t>▶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2240"/>
                </a:solidFill>
                <a:latin typeface="Arial"/>
              </a:rPr>
              <a:t>Hardware demo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insert clip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882896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Policy running on the physical X2.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humanoid walking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